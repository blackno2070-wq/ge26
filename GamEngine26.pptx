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66" r:id="rId3"/>
    <p:sldId id="261" r:id="rId4"/>
    <p:sldId id="264" r:id="rId5"/>
    <p:sldId id="265" r:id="rId6"/>
    <p:sldId id="259" r:id="rId7"/>
    <p:sldId id="268" r:id="rId8"/>
    <p:sldId id="269" r:id="rId9"/>
    <p:sldId id="267" r:id="rId10"/>
    <p:sldId id="270" r:id="rId11"/>
    <p:sldId id="272" r:id="rId12"/>
    <p:sldId id="260" r:id="rId13"/>
    <p:sldId id="262"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81CA"/>
    <a:srgbClr val="10B981"/>
    <a:srgbClr val="1A1B28"/>
    <a:srgbClr val="0E2841"/>
    <a:srgbClr val="000000"/>
    <a:srgbClr val="263B3E"/>
    <a:srgbClr val="C1F1C8"/>
    <a:srgbClr val="4BD55F"/>
    <a:srgbClr val="0C2236"/>
    <a:srgbClr val="133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165" autoAdjust="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AE815-693F-4F5F-8703-02B554464B01}"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9C285-442B-4AAF-82B6-6A35F8C9930B}" type="slidenum">
              <a:rPr lang="en-US" smtClean="0"/>
              <a:t>‹#›</a:t>
            </a:fld>
            <a:endParaRPr lang="en-US"/>
          </a:p>
        </p:txBody>
      </p:sp>
    </p:spTree>
    <p:extLst>
      <p:ext uri="{BB962C8B-B14F-4D97-AF65-F5344CB8AC3E}">
        <p14:creationId xmlns:p14="http://schemas.microsoft.com/office/powerpoint/2010/main" val="3158485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C9C285-442B-4AAF-82B6-6A35F8C9930B}" type="slidenum">
              <a:rPr lang="en-US" smtClean="0"/>
              <a:t>7</a:t>
            </a:fld>
            <a:endParaRPr lang="en-US"/>
          </a:p>
        </p:txBody>
      </p:sp>
    </p:spTree>
    <p:extLst>
      <p:ext uri="{BB962C8B-B14F-4D97-AF65-F5344CB8AC3E}">
        <p14:creationId xmlns:p14="http://schemas.microsoft.com/office/powerpoint/2010/main" val="3465672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43535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4108533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8D2C47-7D4F-4A0D-827F-889BE69F5D32}"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156274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8D2C47-7D4F-4A0D-827F-889BE69F5D32}"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874077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8D2C47-7D4F-4A0D-827F-889BE69F5D32}"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4247881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8D2C47-7D4F-4A0D-827F-889BE69F5D32}"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60154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8D2C47-7D4F-4A0D-827F-889BE69F5D32}"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327963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8D2C47-7D4F-4A0D-827F-889BE69F5D32}"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3491661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8D2C47-7D4F-4A0D-827F-889BE69F5D32}"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02672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309849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416767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683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D88D2C47-7D4F-4A0D-827F-889BE69F5D32}" type="datetimeFigureOut">
              <a:rPr lang="en-US" smtClean="0"/>
              <a:t>5/3/2026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B2AAEE8-469A-4969-A3A5-97569D77B571}" type="slidenum">
              <a:rPr lang="en-US" smtClean="0"/>
              <a:t>‹#›</a:t>
            </a:fld>
            <a:endParaRPr lang="en-US"/>
          </a:p>
        </p:txBody>
      </p:sp>
    </p:spTree>
    <p:extLst>
      <p:ext uri="{BB962C8B-B14F-4D97-AF65-F5344CB8AC3E}">
        <p14:creationId xmlns:p14="http://schemas.microsoft.com/office/powerpoint/2010/main" val="224222393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54CCD7-7844-EE67-A3EF-5A3FF9866DEA}"/>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D9350E9E-B0A5-D202-3CC7-522EB4B55F26}"/>
              </a:ext>
            </a:extLst>
          </p:cNvPr>
          <p:cNvSpPr/>
          <p:nvPr/>
        </p:nvSpPr>
        <p:spPr>
          <a:xfrm>
            <a:off x="0" y="0"/>
            <a:ext cx="12192000" cy="6858000"/>
          </a:xfrm>
          <a:prstGeom prst="rect">
            <a:avLst/>
          </a:prstGeom>
          <a:solidFill>
            <a:schemeClr val="bg1">
              <a:alpha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FC67E6-1169-C0DE-AA26-B4624DACB0A9}"/>
              </a:ext>
            </a:extLst>
          </p:cNvPr>
          <p:cNvSpPr txBox="1"/>
          <p:nvPr/>
        </p:nvSpPr>
        <p:spPr>
          <a:xfrm>
            <a:off x="2781300" y="2875002"/>
            <a:ext cx="7477125" cy="1107996"/>
          </a:xfrm>
          <a:prstGeom prst="rect">
            <a:avLst/>
          </a:prstGeom>
          <a:noFill/>
        </p:spPr>
        <p:txBody>
          <a:bodyPr wrap="square" rtlCol="0">
            <a:spAutoFit/>
          </a:bodyPr>
          <a:lstStyle/>
          <a:p>
            <a:r>
              <a:rPr lang="en-US" sz="6600" dirty="0">
                <a:latin typeface="Arial Black" panose="020B0A04020102020204" pitchFamily="34" charset="0"/>
              </a:rPr>
              <a:t> </a:t>
            </a:r>
            <a:r>
              <a:rPr lang="en-US" sz="6600" dirty="0">
                <a:solidFill>
                  <a:schemeClr val="bg2">
                    <a:lumMod val="50000"/>
                    <a:lumOff val="50000"/>
                  </a:schemeClr>
                </a:solidFill>
                <a:latin typeface="Arial Black" panose="020B0A04020102020204" pitchFamily="34" charset="0"/>
              </a:rPr>
              <a:t>Game Engine</a:t>
            </a:r>
          </a:p>
        </p:txBody>
      </p:sp>
      <p:sp>
        <p:nvSpPr>
          <p:cNvPr id="5" name="TextBox 4">
            <a:extLst>
              <a:ext uri="{FF2B5EF4-FFF2-40B4-BE49-F238E27FC236}">
                <a16:creationId xmlns:a16="http://schemas.microsoft.com/office/drawing/2014/main" id="{16A93121-3AF1-1DA0-FCBD-8A9D2FE48331}"/>
              </a:ext>
            </a:extLst>
          </p:cNvPr>
          <p:cNvSpPr txBox="1"/>
          <p:nvPr/>
        </p:nvSpPr>
        <p:spPr>
          <a:xfrm>
            <a:off x="3810000" y="2306597"/>
            <a:ext cx="4772025" cy="923330"/>
          </a:xfrm>
          <a:prstGeom prst="rect">
            <a:avLst/>
          </a:prstGeom>
          <a:noFill/>
        </p:spPr>
        <p:txBody>
          <a:bodyPr wrap="square" rtlCol="0">
            <a:spAutoFit/>
          </a:bodyPr>
          <a:lstStyle/>
          <a:p>
            <a:r>
              <a:rPr lang="en-US" sz="5400" dirty="0">
                <a:latin typeface="Arial Black" panose="020B0A04020102020204" pitchFamily="34" charset="0"/>
              </a:rPr>
              <a:t>Multiplayer</a:t>
            </a:r>
          </a:p>
        </p:txBody>
      </p:sp>
    </p:spTree>
    <p:extLst>
      <p:ext uri="{BB962C8B-B14F-4D97-AF65-F5344CB8AC3E}">
        <p14:creationId xmlns:p14="http://schemas.microsoft.com/office/powerpoint/2010/main" val="1772553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40D12E-30AB-7E2A-D346-92ADEE659ECD}"/>
              </a:ext>
            </a:extLst>
          </p:cNvPr>
          <p:cNvCxnSpPr>
            <a:cxnSpLocks/>
          </p:cNvCxnSpPr>
          <p:nvPr/>
        </p:nvCxnSpPr>
        <p:spPr>
          <a:xfrm>
            <a:off x="552884" y="162046"/>
            <a:ext cx="0" cy="640594"/>
          </a:xfrm>
          <a:prstGeom prst="line">
            <a:avLst/>
          </a:prstGeom>
          <a:ln w="76200">
            <a:solidFill>
              <a:schemeClr val="bg2">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1899765-87B4-D159-F575-1F3D35E681CE}"/>
              </a:ext>
            </a:extLst>
          </p:cNvPr>
          <p:cNvSpPr txBox="1"/>
          <p:nvPr/>
        </p:nvSpPr>
        <p:spPr>
          <a:xfrm>
            <a:off x="748750" y="159626"/>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3200" b="1" dirty="0">
                <a:latin typeface="Lucida Console" panose="020B0609040504020204" pitchFamily="49" charset="0"/>
              </a:rPr>
              <a:t>Project </a:t>
            </a:r>
            <a:r>
              <a:rPr lang="en-US" sz="3200" b="1" dirty="0">
                <a:solidFill>
                  <a:schemeClr val="accent1">
                    <a:lumMod val="60000"/>
                    <a:lumOff val="40000"/>
                  </a:schemeClr>
                </a:solidFill>
                <a:latin typeface="Lucida Console" panose="020B0609040504020204" pitchFamily="49" charset="0"/>
              </a:rPr>
              <a:t>Structure​</a:t>
            </a:r>
          </a:p>
          <a:p>
            <a:pPr algn="ctr"/>
            <a:endParaRPr lang="en-US" dirty="0"/>
          </a:p>
        </p:txBody>
      </p:sp>
      <p:sp>
        <p:nvSpPr>
          <p:cNvPr id="6" name="Rectangle: Rounded Corners 5">
            <a:extLst>
              <a:ext uri="{FF2B5EF4-FFF2-40B4-BE49-F238E27FC236}">
                <a16:creationId xmlns:a16="http://schemas.microsoft.com/office/drawing/2014/main" id="{875BF3D2-5BF2-5B3B-DC1F-73628B31D4A1}"/>
              </a:ext>
            </a:extLst>
          </p:cNvPr>
          <p:cNvSpPr/>
          <p:nvPr/>
        </p:nvSpPr>
        <p:spPr>
          <a:xfrm>
            <a:off x="303237" y="1028505"/>
            <a:ext cx="3668660" cy="4453206"/>
          </a:xfrm>
          <a:prstGeom prst="roundRect">
            <a:avLst/>
          </a:prstGeom>
          <a:solidFill>
            <a:srgbClr val="29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8" name="Rectangle: Rounded Corners 7">
            <a:extLst>
              <a:ext uri="{FF2B5EF4-FFF2-40B4-BE49-F238E27FC236}">
                <a16:creationId xmlns:a16="http://schemas.microsoft.com/office/drawing/2014/main" id="{C70BA0BD-D1C7-4AA1-6871-ABF5C6E7855C}"/>
              </a:ext>
            </a:extLst>
          </p:cNvPr>
          <p:cNvSpPr/>
          <p:nvPr/>
        </p:nvSpPr>
        <p:spPr>
          <a:xfrm>
            <a:off x="4236329" y="1028505"/>
            <a:ext cx="3668660" cy="4453206"/>
          </a:xfrm>
          <a:prstGeom prst="roundRect">
            <a:avLst/>
          </a:prstGeom>
          <a:solidFill>
            <a:srgbClr val="29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ptos" panose="02110004020202020204"/>
            </a:endParaRPr>
          </a:p>
        </p:txBody>
      </p:sp>
      <p:sp>
        <p:nvSpPr>
          <p:cNvPr id="10" name="Rectangle: Rounded Corners 9">
            <a:extLst>
              <a:ext uri="{FF2B5EF4-FFF2-40B4-BE49-F238E27FC236}">
                <a16:creationId xmlns:a16="http://schemas.microsoft.com/office/drawing/2014/main" id="{69F41506-F284-A78E-B088-A5501A0EA87B}"/>
              </a:ext>
            </a:extLst>
          </p:cNvPr>
          <p:cNvSpPr/>
          <p:nvPr/>
        </p:nvSpPr>
        <p:spPr>
          <a:xfrm>
            <a:off x="8169422" y="1028505"/>
            <a:ext cx="3668660" cy="4453206"/>
          </a:xfrm>
          <a:prstGeom prst="roundRect">
            <a:avLst/>
          </a:prstGeom>
          <a:solidFill>
            <a:srgbClr val="29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1" name="TextBox 2">
            <a:extLst>
              <a:ext uri="{FF2B5EF4-FFF2-40B4-BE49-F238E27FC236}">
                <a16:creationId xmlns:a16="http://schemas.microsoft.com/office/drawing/2014/main" id="{75381FF0-B8A6-2BC1-716D-5E0D6F849D3F}"/>
              </a:ext>
            </a:extLst>
          </p:cNvPr>
          <p:cNvSpPr txBox="1"/>
          <p:nvPr/>
        </p:nvSpPr>
        <p:spPr>
          <a:xfrm>
            <a:off x="8287329" y="1237789"/>
            <a:ext cx="3432845" cy="3354765"/>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300000"/>
              </a:lnSpc>
            </a:pPr>
            <a:r>
              <a:rPr lang="en-US" sz="2800" b="1" dirty="0">
                <a:solidFill>
                  <a:schemeClr val="accent1">
                    <a:lumMod val="60000"/>
                    <a:lumOff val="40000"/>
                  </a:schemeClr>
                </a:solidFill>
                <a:latin typeface="Urbanist"/>
              </a:rPr>
              <a:t>Why separate? </a:t>
            </a:r>
          </a:p>
          <a:p>
            <a:pPr algn="ctr"/>
            <a:r>
              <a:rPr lang="en-US" sz="1600" dirty="0">
                <a:solidFill>
                  <a:schemeClr val="tx1">
                    <a:lumMod val="75000"/>
                  </a:schemeClr>
                </a:solidFill>
              </a:rPr>
              <a:t>Separating the code into multiple files allows team members to work independently without conflicts. It also improves code maintainability, reduces compilation time, and makes debugging significantly easier by isolating each component of the system.</a:t>
            </a:r>
            <a:endParaRPr lang="ar-EG" sz="1600" dirty="0">
              <a:solidFill>
                <a:schemeClr val="tx1">
                  <a:lumMod val="75000"/>
                </a:schemeClr>
              </a:solidFill>
            </a:endParaRPr>
          </a:p>
        </p:txBody>
      </p:sp>
      <p:sp>
        <p:nvSpPr>
          <p:cNvPr id="12" name="TextBox 11">
            <a:extLst>
              <a:ext uri="{FF2B5EF4-FFF2-40B4-BE49-F238E27FC236}">
                <a16:creationId xmlns:a16="http://schemas.microsoft.com/office/drawing/2014/main" id="{6B8BE945-8481-A9FC-7EF7-C82735F7286D}"/>
              </a:ext>
            </a:extLst>
          </p:cNvPr>
          <p:cNvSpPr txBox="1"/>
          <p:nvPr/>
        </p:nvSpPr>
        <p:spPr>
          <a:xfrm>
            <a:off x="374710" y="1276182"/>
            <a:ext cx="3525714"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300000"/>
              </a:lnSpc>
            </a:pPr>
            <a:r>
              <a:rPr lang="en-US" sz="2800" b="1" dirty="0">
                <a:solidFill>
                  <a:schemeClr val="accent1">
                    <a:lumMod val="60000"/>
                    <a:lumOff val="40000"/>
                  </a:schemeClr>
                </a:solidFill>
                <a:ea typeface="+mn-lt"/>
                <a:cs typeface="+mn-lt"/>
              </a:rPr>
              <a:t>Header Files (.h)</a:t>
            </a:r>
            <a:r>
              <a:rPr lang="en-US" sz="2400" dirty="0">
                <a:solidFill>
                  <a:schemeClr val="accent1">
                    <a:lumMod val="60000"/>
                    <a:lumOff val="40000"/>
                  </a:schemeClr>
                </a:solidFill>
              </a:rPr>
              <a:t> </a:t>
            </a:r>
            <a:endParaRPr lang="en-US" dirty="0"/>
          </a:p>
          <a:p>
            <a:pPr algn="ctr"/>
            <a:r>
              <a:rPr lang="en-US" sz="1600" dirty="0">
                <a:solidFill>
                  <a:schemeClr val="tx1">
                    <a:lumMod val="75000"/>
                  </a:schemeClr>
                </a:solidFill>
              </a:rPr>
              <a:t>Header files contain class declarations, function prototypes, and variable definitions. They serve as an interface that allows other files to access a class without exposing its implementation. Any source file that requires access to a class simply includes its corresponding header file.</a:t>
            </a:r>
          </a:p>
        </p:txBody>
      </p:sp>
      <p:sp>
        <p:nvSpPr>
          <p:cNvPr id="2" name="TextBox 1">
            <a:extLst>
              <a:ext uri="{FF2B5EF4-FFF2-40B4-BE49-F238E27FC236}">
                <a16:creationId xmlns:a16="http://schemas.microsoft.com/office/drawing/2014/main" id="{A5DEB72A-F277-5701-CD2F-EB68B5C0D0A4}"/>
              </a:ext>
            </a:extLst>
          </p:cNvPr>
          <p:cNvSpPr txBox="1"/>
          <p:nvPr/>
        </p:nvSpPr>
        <p:spPr>
          <a:xfrm>
            <a:off x="4527776" y="1275847"/>
            <a:ext cx="3136448" cy="3600986"/>
          </a:xfrm>
          <a:prstGeom prst="rect">
            <a:avLst/>
          </a:prstGeom>
          <a:noFill/>
        </p:spPr>
        <p:txBody>
          <a:bodyPr wrap="square" rtlCol="0">
            <a:spAutoFit/>
          </a:bodyPr>
          <a:lstStyle/>
          <a:p>
            <a:pPr algn="ctr">
              <a:lnSpc>
                <a:spcPct val="300000"/>
              </a:lnSpc>
            </a:pPr>
            <a:r>
              <a:rPr lang="en-US" sz="2800" b="1" dirty="0">
                <a:solidFill>
                  <a:schemeClr val="accent1">
                    <a:lumMod val="60000"/>
                    <a:lumOff val="40000"/>
                  </a:schemeClr>
                </a:solidFill>
                <a:latin typeface="Urbanist"/>
              </a:rPr>
              <a:t>Source Files (.cpp) </a:t>
            </a:r>
          </a:p>
          <a:p>
            <a:pPr algn="ctr"/>
            <a:r>
              <a:rPr lang="en-US" sz="1800" dirty="0">
                <a:solidFill>
                  <a:schemeClr val="tx1">
                    <a:lumMod val="75000"/>
                  </a:schemeClr>
                </a:solidFill>
              </a:rPr>
              <a:t>Source files contain the full implementation of the functions and classes declared in the header files. This is where the actual logic and functionality of the program resides.</a:t>
            </a:r>
          </a:p>
          <a:p>
            <a:pPr algn="ctr"/>
            <a:endParaRPr lang="en-US" dirty="0"/>
          </a:p>
        </p:txBody>
      </p:sp>
      <p:sp>
        <p:nvSpPr>
          <p:cNvPr id="16" name="Rectangle 15">
            <a:extLst>
              <a:ext uri="{FF2B5EF4-FFF2-40B4-BE49-F238E27FC236}">
                <a16:creationId xmlns:a16="http://schemas.microsoft.com/office/drawing/2014/main" id="{5B380D57-D368-3E70-1931-F8285E960FB2}"/>
              </a:ext>
            </a:extLst>
          </p:cNvPr>
          <p:cNvSpPr/>
          <p:nvPr/>
        </p:nvSpPr>
        <p:spPr>
          <a:xfrm>
            <a:off x="748751" y="5680417"/>
            <a:ext cx="11443249" cy="1000125"/>
          </a:xfrm>
          <a:prstGeom prst="rect">
            <a:avLst/>
          </a:prstGeom>
          <a:gradFill flip="none" rotWithShape="1">
            <a:gsLst>
              <a:gs pos="91000">
                <a:srgbClr val="000000"/>
              </a:gs>
              <a:gs pos="42000">
                <a:schemeClr val="bg2"/>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8AF2F022-D5C5-D873-39A9-4DB19800DBCE}"/>
              </a:ext>
            </a:extLst>
          </p:cNvPr>
          <p:cNvCxnSpPr>
            <a:cxnSpLocks/>
          </p:cNvCxnSpPr>
          <p:nvPr/>
        </p:nvCxnSpPr>
        <p:spPr>
          <a:xfrm>
            <a:off x="753432" y="5680417"/>
            <a:ext cx="0" cy="1000125"/>
          </a:xfrm>
          <a:prstGeom prst="line">
            <a:avLst/>
          </a:prstGeom>
          <a:ln w="76200">
            <a:solidFill>
              <a:srgbClr val="00194C"/>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C61AA12-8F61-9CDC-79FA-6B2AEB6D874B}"/>
              </a:ext>
            </a:extLst>
          </p:cNvPr>
          <p:cNvSpPr txBox="1"/>
          <p:nvPr/>
        </p:nvSpPr>
        <p:spPr>
          <a:xfrm>
            <a:off x="805624" y="5857313"/>
            <a:ext cx="8601387" cy="646331"/>
          </a:xfrm>
          <a:prstGeom prst="rect">
            <a:avLst/>
          </a:prstGeom>
          <a:noFill/>
        </p:spPr>
        <p:txBody>
          <a:bodyPr wrap="square" rtlCol="0">
            <a:spAutoFit/>
          </a:bodyPr>
          <a:lstStyle/>
          <a:p>
            <a:r>
              <a:rPr lang="en-US" sz="1800" kern="1200" dirty="0">
                <a:solidFill>
                  <a:schemeClr val="tx1">
                    <a:lumMod val="85000"/>
                  </a:schemeClr>
                </a:solidFill>
                <a:effectLst/>
                <a:latin typeface="Aptos" panose="020B0004020202020204" pitchFamily="34" charset="0"/>
                <a:ea typeface="+mn-ea"/>
                <a:cs typeface="+mn-cs"/>
              </a:rPr>
              <a:t>To align with this modular architecture, the development team was structured into </a:t>
            </a:r>
          </a:p>
          <a:p>
            <a:r>
              <a:rPr lang="en-US" sz="1800" b="1" kern="1200" dirty="0">
                <a:solidFill>
                  <a:schemeClr val="tx1">
                    <a:lumMod val="85000"/>
                  </a:schemeClr>
                </a:solidFill>
                <a:effectLst/>
                <a:latin typeface="Aptos" panose="020B0004020202020204" pitchFamily="34" charset="0"/>
                <a:ea typeface="+mn-ea"/>
                <a:cs typeface="+mn-cs"/>
              </a:rPr>
              <a:t>3 sub-teams</a:t>
            </a:r>
            <a:r>
              <a:rPr lang="en-US" sz="1800" kern="1200" dirty="0">
                <a:solidFill>
                  <a:schemeClr val="tx1">
                    <a:lumMod val="85000"/>
                  </a:schemeClr>
                </a:solidFill>
                <a:effectLst/>
                <a:latin typeface="Aptos" panose="020B0004020202020204" pitchFamily="34" charset="0"/>
                <a:ea typeface="+mn-ea"/>
                <a:cs typeface="+mn-cs"/>
              </a:rPr>
              <a:t>, each managing specific components independently</a:t>
            </a:r>
            <a:endParaRPr lang="en-US" dirty="0">
              <a:solidFill>
                <a:schemeClr val="tx1">
                  <a:lumMod val="85000"/>
                </a:schemeClr>
              </a:solidFill>
            </a:endParaRPr>
          </a:p>
        </p:txBody>
      </p:sp>
    </p:spTree>
    <p:extLst>
      <p:ext uri="{BB962C8B-B14F-4D97-AF65-F5344CB8AC3E}">
        <p14:creationId xmlns:p14="http://schemas.microsoft.com/office/powerpoint/2010/main" val="263359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2A31652-2C89-A85B-FF65-13A93922034A}"/>
              </a:ext>
            </a:extLst>
          </p:cNvPr>
          <p:cNvSpPr/>
          <p:nvPr/>
        </p:nvSpPr>
        <p:spPr>
          <a:xfrm>
            <a:off x="273055" y="1845329"/>
            <a:ext cx="3422418" cy="4399277"/>
          </a:xfrm>
          <a:prstGeom prst="rect">
            <a:avLst/>
          </a:prstGeom>
          <a:solidFill>
            <a:srgbClr val="29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7" name="Rectangle 6">
            <a:extLst>
              <a:ext uri="{FF2B5EF4-FFF2-40B4-BE49-F238E27FC236}">
                <a16:creationId xmlns:a16="http://schemas.microsoft.com/office/drawing/2014/main" id="{75A0128A-E31F-40EC-3440-C0379B135AD1}"/>
              </a:ext>
            </a:extLst>
          </p:cNvPr>
          <p:cNvSpPr/>
          <p:nvPr/>
        </p:nvSpPr>
        <p:spPr>
          <a:xfrm>
            <a:off x="3837713" y="1845330"/>
            <a:ext cx="8084637" cy="4399276"/>
          </a:xfrm>
          <a:prstGeom prst="rect">
            <a:avLst/>
          </a:prstGeom>
          <a:solidFill>
            <a:srgbClr val="29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3" name="TextBox 2">
            <a:extLst>
              <a:ext uri="{FF2B5EF4-FFF2-40B4-BE49-F238E27FC236}">
                <a16:creationId xmlns:a16="http://schemas.microsoft.com/office/drawing/2014/main" id="{6BD134CE-6E25-F460-E6F3-99019CC09726}"/>
              </a:ext>
            </a:extLst>
          </p:cNvPr>
          <p:cNvSpPr txBox="1"/>
          <p:nvPr/>
        </p:nvSpPr>
        <p:spPr>
          <a:xfrm>
            <a:off x="3048000" y="3244334"/>
            <a:ext cx="6096000" cy="369332"/>
          </a:xfrm>
          <a:prstGeom prst="rect">
            <a:avLst/>
          </a:prstGeom>
          <a:noFill/>
        </p:spPr>
        <p:txBody>
          <a:bodyPr wrap="square">
            <a:spAutoFit/>
          </a:bodyPr>
          <a:lstStyle/>
          <a:p>
            <a:r>
              <a:rPr lang="en-US" dirty="0"/>
              <a:t> </a:t>
            </a:r>
          </a:p>
        </p:txBody>
      </p:sp>
      <p:sp>
        <p:nvSpPr>
          <p:cNvPr id="5" name="TextBox 4">
            <a:extLst>
              <a:ext uri="{FF2B5EF4-FFF2-40B4-BE49-F238E27FC236}">
                <a16:creationId xmlns:a16="http://schemas.microsoft.com/office/drawing/2014/main" id="{9275FE77-94EA-F84B-9D65-FEEAF986A672}"/>
              </a:ext>
            </a:extLst>
          </p:cNvPr>
          <p:cNvSpPr txBox="1"/>
          <p:nvPr/>
        </p:nvSpPr>
        <p:spPr>
          <a:xfrm>
            <a:off x="3048000" y="3244334"/>
            <a:ext cx="6096000" cy="369332"/>
          </a:xfrm>
          <a:prstGeom prst="rect">
            <a:avLst/>
          </a:prstGeom>
          <a:noFill/>
        </p:spPr>
        <p:txBody>
          <a:bodyPr wrap="square">
            <a:spAutoFit/>
          </a:bodyPr>
          <a:lstStyle/>
          <a:p>
            <a:r>
              <a:rPr lang="en-US" dirty="0"/>
              <a:t> </a:t>
            </a:r>
          </a:p>
        </p:txBody>
      </p:sp>
      <p:cxnSp>
        <p:nvCxnSpPr>
          <p:cNvPr id="9" name="Straight Connector 8">
            <a:extLst>
              <a:ext uri="{FF2B5EF4-FFF2-40B4-BE49-F238E27FC236}">
                <a16:creationId xmlns:a16="http://schemas.microsoft.com/office/drawing/2014/main" id="{936F4B95-C4A0-3895-7910-617877439E1C}"/>
              </a:ext>
            </a:extLst>
          </p:cNvPr>
          <p:cNvCxnSpPr>
            <a:cxnSpLocks/>
          </p:cNvCxnSpPr>
          <p:nvPr/>
        </p:nvCxnSpPr>
        <p:spPr>
          <a:xfrm>
            <a:off x="552884" y="162046"/>
            <a:ext cx="0" cy="1209554"/>
          </a:xfrm>
          <a:prstGeom prst="line">
            <a:avLst/>
          </a:prstGeom>
          <a:ln w="76200">
            <a:solidFill>
              <a:schemeClr val="tx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8816809-2C05-74CC-8018-1FCB94C12185}"/>
              </a:ext>
            </a:extLst>
          </p:cNvPr>
          <p:cNvSpPr txBox="1"/>
          <p:nvPr/>
        </p:nvSpPr>
        <p:spPr>
          <a:xfrm>
            <a:off x="690880" y="182880"/>
            <a:ext cx="6238240" cy="1261884"/>
          </a:xfrm>
          <a:prstGeom prst="rect">
            <a:avLst/>
          </a:prstGeom>
          <a:noFill/>
        </p:spPr>
        <p:txBody>
          <a:bodyPr wrap="square" rtlCol="0">
            <a:spAutoFit/>
          </a:bodyPr>
          <a:lstStyle/>
          <a:p>
            <a:r>
              <a:rPr lang="en-US" sz="3200" b="1" dirty="0">
                <a:latin typeface="Lucida Console" panose="020B0609040504020204" pitchFamily="49" charset="0"/>
              </a:rPr>
              <a:t>THE </a:t>
            </a:r>
            <a:r>
              <a:rPr lang="en-US" sz="3200" b="1" dirty="0">
                <a:solidFill>
                  <a:schemeClr val="accent1">
                    <a:lumMod val="60000"/>
                    <a:lumOff val="40000"/>
                  </a:schemeClr>
                </a:solidFill>
                <a:latin typeface="Lucida Console" panose="020B0609040504020204" pitchFamily="49" charset="0"/>
              </a:rPr>
              <a:t>CORE</a:t>
            </a:r>
            <a:r>
              <a:rPr lang="en-US" sz="3200" b="1" dirty="0">
                <a:latin typeface="Lucida Console" panose="020B0609040504020204" pitchFamily="49" charset="0"/>
              </a:rPr>
              <a:t> </a:t>
            </a:r>
          </a:p>
          <a:p>
            <a:r>
              <a:rPr lang="en-US" sz="4400" b="1" dirty="0">
                <a:latin typeface="Lucida Console" panose="020B0609040504020204" pitchFamily="49" charset="0"/>
              </a:rPr>
              <a:t>ENGINE TEAM</a:t>
            </a:r>
            <a:endParaRPr lang="en-US" sz="4400" dirty="0">
              <a:latin typeface="Lucida Console" panose="020B0609040504020204" pitchFamily="49" charset="0"/>
            </a:endParaRPr>
          </a:p>
        </p:txBody>
      </p:sp>
      <p:sp>
        <p:nvSpPr>
          <p:cNvPr id="15" name="TextBox 14">
            <a:extLst>
              <a:ext uri="{FF2B5EF4-FFF2-40B4-BE49-F238E27FC236}">
                <a16:creationId xmlns:a16="http://schemas.microsoft.com/office/drawing/2014/main" id="{42A6B1AE-0867-7AA0-5CEC-2861BA88AE1D}"/>
              </a:ext>
            </a:extLst>
          </p:cNvPr>
          <p:cNvSpPr txBox="1"/>
          <p:nvPr/>
        </p:nvSpPr>
        <p:spPr>
          <a:xfrm>
            <a:off x="619760" y="2766428"/>
            <a:ext cx="2275840" cy="461665"/>
          </a:xfrm>
          <a:prstGeom prst="rect">
            <a:avLst/>
          </a:prstGeom>
          <a:noFill/>
        </p:spPr>
        <p:txBody>
          <a:bodyPr wrap="square">
            <a:spAutoFit/>
          </a:bodyPr>
          <a:lstStyle/>
          <a:p>
            <a:pPr rtl="0">
              <a:spcBef>
                <a:spcPts val="0"/>
              </a:spcBef>
              <a:spcAft>
                <a:spcPts val="0"/>
              </a:spcAft>
            </a:pPr>
            <a:r>
              <a:rPr lang="en-US" sz="2400" b="1" i="0" u="none" strike="noStrike" dirty="0">
                <a:effectLst/>
                <a:latin typeface="Urbanist"/>
              </a:rPr>
              <a:t>Team Members</a:t>
            </a:r>
            <a:endParaRPr lang="en-US" sz="2400" dirty="0">
              <a:effectLst/>
            </a:endParaRPr>
          </a:p>
        </p:txBody>
      </p:sp>
      <p:pic>
        <p:nvPicPr>
          <p:cNvPr id="1026" name="Picture 2">
            <a:extLst>
              <a:ext uri="{FF2B5EF4-FFF2-40B4-BE49-F238E27FC236}">
                <a16:creationId xmlns:a16="http://schemas.microsoft.com/office/drawing/2014/main" id="{D5645790-A1EA-B2AA-9217-F748B04640A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685800" y="3480367"/>
            <a:ext cx="152400" cy="180975"/>
          </a:xfrm>
          <a:prstGeom prst="rect">
            <a:avLst/>
          </a:prstGeom>
          <a:noFill/>
        </p:spPr>
      </p:pic>
      <p:pic>
        <p:nvPicPr>
          <p:cNvPr id="1028" name="Picture 4">
            <a:extLst>
              <a:ext uri="{FF2B5EF4-FFF2-40B4-BE49-F238E27FC236}">
                <a16:creationId xmlns:a16="http://schemas.microsoft.com/office/drawing/2014/main" id="{6F579764-8761-95CD-39CE-316C785B1762}"/>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65480" y="3866447"/>
            <a:ext cx="152400" cy="18097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62E0E6F-9963-860F-03D4-D6EC838A17A9}"/>
              </a:ext>
            </a:extLst>
          </p:cNvPr>
          <p:cNvSpPr txBox="1"/>
          <p:nvPr/>
        </p:nvSpPr>
        <p:spPr>
          <a:xfrm>
            <a:off x="843280" y="3291454"/>
            <a:ext cx="2540000" cy="883383"/>
          </a:xfrm>
          <a:prstGeom prst="rect">
            <a:avLst/>
          </a:prstGeom>
          <a:noFill/>
        </p:spPr>
        <p:txBody>
          <a:bodyPr wrap="square" rtlCol="0">
            <a:spAutoFit/>
          </a:bodyPr>
          <a:lstStyle/>
          <a:p>
            <a:pPr>
              <a:lnSpc>
                <a:spcPct val="150000"/>
              </a:lnSpc>
            </a:pPr>
            <a:r>
              <a:rPr lang="en-US" dirty="0"/>
              <a:t>Yassin Athula </a:t>
            </a:r>
          </a:p>
          <a:p>
            <a:pPr>
              <a:lnSpc>
                <a:spcPct val="150000"/>
              </a:lnSpc>
            </a:pPr>
            <a:r>
              <a:rPr lang="en-US" dirty="0"/>
              <a:t>Mohraeel Khalaf</a:t>
            </a:r>
          </a:p>
        </p:txBody>
      </p:sp>
      <p:sp>
        <p:nvSpPr>
          <p:cNvPr id="18" name="TextBox 17">
            <a:extLst>
              <a:ext uri="{FF2B5EF4-FFF2-40B4-BE49-F238E27FC236}">
                <a16:creationId xmlns:a16="http://schemas.microsoft.com/office/drawing/2014/main" id="{6ECC455D-0310-5741-D7F4-A84EA8664894}"/>
              </a:ext>
            </a:extLst>
          </p:cNvPr>
          <p:cNvSpPr txBox="1"/>
          <p:nvPr/>
        </p:nvSpPr>
        <p:spPr>
          <a:xfrm>
            <a:off x="4739640" y="2097058"/>
            <a:ext cx="4378960" cy="800219"/>
          </a:xfrm>
          <a:prstGeom prst="rect">
            <a:avLst/>
          </a:prstGeom>
          <a:noFill/>
        </p:spPr>
        <p:txBody>
          <a:bodyPr wrap="square" rtlCol="0">
            <a:spAutoFit/>
          </a:bodyPr>
          <a:lstStyle/>
          <a:p>
            <a:r>
              <a:rPr lang="en-US" sz="2800" b="1" i="0" u="none" strike="noStrike" dirty="0">
                <a:solidFill>
                  <a:schemeClr val="accent4">
                    <a:lumMod val="75000"/>
                  </a:schemeClr>
                </a:solidFill>
                <a:effectLst/>
                <a:latin typeface="Urbanist"/>
              </a:rPr>
              <a:t>Collective Responsibilities</a:t>
            </a:r>
            <a:endParaRPr lang="en-US" sz="2800" dirty="0">
              <a:solidFill>
                <a:schemeClr val="accent4">
                  <a:lumMod val="75000"/>
                </a:schemeClr>
              </a:solidFill>
              <a:effectLst/>
            </a:endParaRPr>
          </a:p>
          <a:p>
            <a:endParaRPr lang="en-US" dirty="0"/>
          </a:p>
        </p:txBody>
      </p:sp>
      <p:sp>
        <p:nvSpPr>
          <p:cNvPr id="23" name="TextBox 22">
            <a:extLst>
              <a:ext uri="{FF2B5EF4-FFF2-40B4-BE49-F238E27FC236}">
                <a16:creationId xmlns:a16="http://schemas.microsoft.com/office/drawing/2014/main" id="{A9101A6F-4A1F-7248-1EFB-CEF500161412}"/>
              </a:ext>
            </a:extLst>
          </p:cNvPr>
          <p:cNvSpPr txBox="1"/>
          <p:nvPr/>
        </p:nvSpPr>
        <p:spPr>
          <a:xfrm>
            <a:off x="4851400" y="2889539"/>
            <a:ext cx="7437120" cy="338554"/>
          </a:xfrm>
          <a:prstGeom prst="rect">
            <a:avLst/>
          </a:prstGeom>
          <a:noFill/>
        </p:spPr>
        <p:txBody>
          <a:bodyPr wrap="square">
            <a:spAutoFit/>
          </a:bodyPr>
          <a:lstStyle/>
          <a:p>
            <a:r>
              <a:rPr lang="en-US" sz="1600" b="1" dirty="0"/>
              <a:t>Game Loop Architecture:</a:t>
            </a:r>
            <a:r>
              <a:rPr lang="en-US" sz="1600" dirty="0"/>
              <a:t> Syncing input, physics, and rendering for stability</a:t>
            </a:r>
          </a:p>
        </p:txBody>
      </p:sp>
      <p:cxnSp>
        <p:nvCxnSpPr>
          <p:cNvPr id="25" name="Straight Arrow Connector 24">
            <a:extLst>
              <a:ext uri="{FF2B5EF4-FFF2-40B4-BE49-F238E27FC236}">
                <a16:creationId xmlns:a16="http://schemas.microsoft.com/office/drawing/2014/main" id="{CD530D50-3A40-6930-45EE-8F7A51DC2822}"/>
              </a:ext>
            </a:extLst>
          </p:cNvPr>
          <p:cNvCxnSpPr>
            <a:cxnSpLocks/>
          </p:cNvCxnSpPr>
          <p:nvPr/>
        </p:nvCxnSpPr>
        <p:spPr>
          <a:xfrm>
            <a:off x="4373880" y="3062258"/>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8242B21-3D1A-DBC5-46C3-3E7339922942}"/>
              </a:ext>
            </a:extLst>
          </p:cNvPr>
          <p:cNvSpPr txBox="1"/>
          <p:nvPr/>
        </p:nvSpPr>
        <p:spPr>
          <a:xfrm>
            <a:off x="4841240" y="3570258"/>
            <a:ext cx="6959600" cy="338554"/>
          </a:xfrm>
          <a:prstGeom prst="rect">
            <a:avLst/>
          </a:prstGeom>
          <a:noFill/>
        </p:spPr>
        <p:txBody>
          <a:bodyPr wrap="square" rtlCol="0">
            <a:spAutoFit/>
          </a:bodyPr>
          <a:lstStyle/>
          <a:p>
            <a:r>
              <a:rPr lang="en-US" sz="1600" b="1" dirty="0"/>
              <a:t>Entity</a:t>
            </a:r>
            <a:r>
              <a:rPr lang="ar-EG" sz="1600" b="1" dirty="0"/>
              <a:t> </a:t>
            </a:r>
            <a:r>
              <a:rPr lang="en-US" sz="1600" b="1" dirty="0"/>
              <a:t>Manager:</a:t>
            </a:r>
            <a:r>
              <a:rPr lang="en-US" sz="1600" dirty="0"/>
              <a:t> Managing object life-cycles and dynamic memory allocation</a:t>
            </a:r>
          </a:p>
        </p:txBody>
      </p:sp>
      <p:cxnSp>
        <p:nvCxnSpPr>
          <p:cNvPr id="28" name="Straight Arrow Connector 27">
            <a:extLst>
              <a:ext uri="{FF2B5EF4-FFF2-40B4-BE49-F238E27FC236}">
                <a16:creationId xmlns:a16="http://schemas.microsoft.com/office/drawing/2014/main" id="{A72ECEA8-54B1-0D9C-D8F7-25BF469C755F}"/>
              </a:ext>
            </a:extLst>
          </p:cNvPr>
          <p:cNvCxnSpPr>
            <a:cxnSpLocks/>
          </p:cNvCxnSpPr>
          <p:nvPr/>
        </p:nvCxnSpPr>
        <p:spPr>
          <a:xfrm>
            <a:off x="4394200" y="3722658"/>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0484E63-4E10-152F-7CAE-5D9F090A7C00}"/>
              </a:ext>
            </a:extLst>
          </p:cNvPr>
          <p:cNvSpPr txBox="1"/>
          <p:nvPr/>
        </p:nvSpPr>
        <p:spPr>
          <a:xfrm>
            <a:off x="4841240" y="4274889"/>
            <a:ext cx="8219440" cy="338554"/>
          </a:xfrm>
          <a:prstGeom prst="rect">
            <a:avLst/>
          </a:prstGeom>
          <a:noFill/>
        </p:spPr>
        <p:txBody>
          <a:bodyPr wrap="square" rtlCol="0">
            <a:spAutoFit/>
          </a:bodyPr>
          <a:lstStyle/>
          <a:p>
            <a:r>
              <a:rPr lang="en-US" sz="1600" b="1" dirty="0"/>
              <a:t>Physics Engine:</a:t>
            </a:r>
            <a:r>
              <a:rPr lang="en-US" sz="1600" dirty="0"/>
              <a:t> Implementing custom AABB collision detection and resolution</a:t>
            </a:r>
          </a:p>
        </p:txBody>
      </p:sp>
      <p:cxnSp>
        <p:nvCxnSpPr>
          <p:cNvPr id="30" name="Straight Arrow Connector 29">
            <a:extLst>
              <a:ext uri="{FF2B5EF4-FFF2-40B4-BE49-F238E27FC236}">
                <a16:creationId xmlns:a16="http://schemas.microsoft.com/office/drawing/2014/main" id="{4DAD2F3C-6C29-FC8B-F049-8E0A5EACA2DE}"/>
              </a:ext>
            </a:extLst>
          </p:cNvPr>
          <p:cNvCxnSpPr>
            <a:cxnSpLocks/>
          </p:cNvCxnSpPr>
          <p:nvPr/>
        </p:nvCxnSpPr>
        <p:spPr>
          <a:xfrm>
            <a:off x="4455160" y="5155218"/>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CB5390F-ACB3-6BA7-A711-C1C859363B3A}"/>
              </a:ext>
            </a:extLst>
          </p:cNvPr>
          <p:cNvCxnSpPr>
            <a:cxnSpLocks/>
          </p:cNvCxnSpPr>
          <p:nvPr/>
        </p:nvCxnSpPr>
        <p:spPr>
          <a:xfrm>
            <a:off x="4424680" y="4454178"/>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BCB1698-00C5-4DA9-DDF3-AEA468631A88}"/>
              </a:ext>
            </a:extLst>
          </p:cNvPr>
          <p:cNvSpPr txBox="1"/>
          <p:nvPr/>
        </p:nvSpPr>
        <p:spPr>
          <a:xfrm>
            <a:off x="4800600" y="4992659"/>
            <a:ext cx="7101840" cy="338554"/>
          </a:xfrm>
          <a:prstGeom prst="rect">
            <a:avLst/>
          </a:prstGeom>
          <a:noFill/>
        </p:spPr>
        <p:txBody>
          <a:bodyPr wrap="square" rtlCol="0">
            <a:spAutoFit/>
          </a:bodyPr>
          <a:lstStyle/>
          <a:p>
            <a:r>
              <a:rPr lang="en-US" sz="1600" b="1" dirty="0"/>
              <a:t>System Integration:</a:t>
            </a:r>
            <a:r>
              <a:rPr lang="en-US" sz="1600" dirty="0"/>
              <a:t> Connecting core modules with Gameplay and Networking</a:t>
            </a:r>
          </a:p>
        </p:txBody>
      </p:sp>
    </p:spTree>
    <p:extLst>
      <p:ext uri="{BB962C8B-B14F-4D97-AF65-F5344CB8AC3E}">
        <p14:creationId xmlns:p14="http://schemas.microsoft.com/office/powerpoint/2010/main" val="8000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B127FAA-F799-FCC1-D683-996DB1482FC9}"/>
              </a:ext>
            </a:extLst>
          </p:cNvPr>
          <p:cNvSpPr/>
          <p:nvPr/>
        </p:nvSpPr>
        <p:spPr>
          <a:xfrm>
            <a:off x="3889151" y="1854200"/>
            <a:ext cx="8004397" cy="4399280"/>
          </a:xfrm>
          <a:prstGeom prst="rect">
            <a:avLst/>
          </a:prstGeom>
          <a:solidFill>
            <a:srgbClr val="263B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7" name="Rectangle 6">
            <a:extLst>
              <a:ext uri="{FF2B5EF4-FFF2-40B4-BE49-F238E27FC236}">
                <a16:creationId xmlns:a16="http://schemas.microsoft.com/office/drawing/2014/main" id="{6A03723E-02FF-A694-4BD3-0083C419C6A2}"/>
              </a:ext>
            </a:extLst>
          </p:cNvPr>
          <p:cNvSpPr/>
          <p:nvPr/>
        </p:nvSpPr>
        <p:spPr>
          <a:xfrm>
            <a:off x="273054" y="1854200"/>
            <a:ext cx="3422418" cy="4399280"/>
          </a:xfrm>
          <a:prstGeom prst="rect">
            <a:avLst/>
          </a:prstGeom>
          <a:solidFill>
            <a:srgbClr val="263B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3" name="TextBox 2">
            <a:extLst>
              <a:ext uri="{FF2B5EF4-FFF2-40B4-BE49-F238E27FC236}">
                <a16:creationId xmlns:a16="http://schemas.microsoft.com/office/drawing/2014/main" id="{6BD134CE-6E25-F460-E6F3-99019CC09726}"/>
              </a:ext>
            </a:extLst>
          </p:cNvPr>
          <p:cNvSpPr txBox="1"/>
          <p:nvPr/>
        </p:nvSpPr>
        <p:spPr>
          <a:xfrm>
            <a:off x="3035302" y="3320534"/>
            <a:ext cx="6096000" cy="369332"/>
          </a:xfrm>
          <a:prstGeom prst="rect">
            <a:avLst/>
          </a:prstGeom>
          <a:noFill/>
        </p:spPr>
        <p:txBody>
          <a:bodyPr wrap="square">
            <a:spAutoFit/>
          </a:bodyPr>
          <a:lstStyle/>
          <a:p>
            <a:r>
              <a:rPr lang="en-US" dirty="0"/>
              <a:t> </a:t>
            </a:r>
          </a:p>
        </p:txBody>
      </p:sp>
      <p:sp>
        <p:nvSpPr>
          <p:cNvPr id="5" name="TextBox 4">
            <a:extLst>
              <a:ext uri="{FF2B5EF4-FFF2-40B4-BE49-F238E27FC236}">
                <a16:creationId xmlns:a16="http://schemas.microsoft.com/office/drawing/2014/main" id="{9275FE77-94EA-F84B-9D65-FEEAF986A672}"/>
              </a:ext>
            </a:extLst>
          </p:cNvPr>
          <p:cNvSpPr txBox="1"/>
          <p:nvPr/>
        </p:nvSpPr>
        <p:spPr>
          <a:xfrm>
            <a:off x="3035302" y="3320534"/>
            <a:ext cx="6096000" cy="369332"/>
          </a:xfrm>
          <a:prstGeom prst="rect">
            <a:avLst/>
          </a:prstGeom>
          <a:noFill/>
        </p:spPr>
        <p:txBody>
          <a:bodyPr wrap="square">
            <a:spAutoFit/>
          </a:bodyPr>
          <a:lstStyle/>
          <a:p>
            <a:r>
              <a:rPr lang="en-US" dirty="0"/>
              <a:t> </a:t>
            </a:r>
          </a:p>
        </p:txBody>
      </p:sp>
      <p:cxnSp>
        <p:nvCxnSpPr>
          <p:cNvPr id="9" name="Straight Connector 8">
            <a:extLst>
              <a:ext uri="{FF2B5EF4-FFF2-40B4-BE49-F238E27FC236}">
                <a16:creationId xmlns:a16="http://schemas.microsoft.com/office/drawing/2014/main" id="{936F4B95-C4A0-3895-7910-617877439E1C}"/>
              </a:ext>
            </a:extLst>
          </p:cNvPr>
          <p:cNvCxnSpPr>
            <a:cxnSpLocks/>
          </p:cNvCxnSpPr>
          <p:nvPr/>
        </p:nvCxnSpPr>
        <p:spPr>
          <a:xfrm>
            <a:off x="518160" y="185195"/>
            <a:ext cx="0" cy="1167355"/>
          </a:xfrm>
          <a:prstGeom prst="line">
            <a:avLst/>
          </a:prstGeom>
          <a:ln w="76200">
            <a:solidFill>
              <a:srgbClr val="263B3E"/>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2A6B1AE-0867-7AA0-5CEC-2861BA88AE1D}"/>
              </a:ext>
            </a:extLst>
          </p:cNvPr>
          <p:cNvSpPr txBox="1"/>
          <p:nvPr/>
        </p:nvSpPr>
        <p:spPr>
          <a:xfrm>
            <a:off x="592520" y="2835424"/>
            <a:ext cx="2275840" cy="461665"/>
          </a:xfrm>
          <a:prstGeom prst="rect">
            <a:avLst/>
          </a:prstGeom>
          <a:noFill/>
        </p:spPr>
        <p:txBody>
          <a:bodyPr wrap="square">
            <a:spAutoFit/>
          </a:bodyPr>
          <a:lstStyle/>
          <a:p>
            <a:pPr rtl="0">
              <a:spcBef>
                <a:spcPts val="0"/>
              </a:spcBef>
              <a:spcAft>
                <a:spcPts val="0"/>
              </a:spcAft>
            </a:pPr>
            <a:r>
              <a:rPr lang="en-US" sz="2400" b="1" i="0" u="none" strike="noStrike" dirty="0">
                <a:effectLst/>
                <a:latin typeface="Urbanist"/>
              </a:rPr>
              <a:t>Team Members</a:t>
            </a:r>
            <a:endParaRPr lang="en-US" sz="2400" dirty="0">
              <a:effectLst/>
            </a:endParaRPr>
          </a:p>
        </p:txBody>
      </p:sp>
      <p:pic>
        <p:nvPicPr>
          <p:cNvPr id="1026" name="Picture 2">
            <a:extLst>
              <a:ext uri="{FF2B5EF4-FFF2-40B4-BE49-F238E27FC236}">
                <a16:creationId xmlns:a16="http://schemas.microsoft.com/office/drawing/2014/main" id="{D5645790-A1EA-B2AA-9217-F748B04640A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617920" y="3833843"/>
            <a:ext cx="152400" cy="180975"/>
          </a:xfrm>
          <a:prstGeom prst="rect">
            <a:avLst/>
          </a:prstGeom>
          <a:noFill/>
        </p:spPr>
      </p:pic>
      <p:pic>
        <p:nvPicPr>
          <p:cNvPr id="1028" name="Picture 4">
            <a:extLst>
              <a:ext uri="{FF2B5EF4-FFF2-40B4-BE49-F238E27FC236}">
                <a16:creationId xmlns:a16="http://schemas.microsoft.com/office/drawing/2014/main" id="{6F579764-8761-95CD-39CE-316C785B1762}"/>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48400" y="3457923"/>
            <a:ext cx="152400" cy="18097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ECC455D-0310-5741-D7F4-A84EA8664894}"/>
              </a:ext>
            </a:extLst>
          </p:cNvPr>
          <p:cNvSpPr txBox="1"/>
          <p:nvPr/>
        </p:nvSpPr>
        <p:spPr>
          <a:xfrm>
            <a:off x="4558665" y="2250460"/>
            <a:ext cx="4378960" cy="800219"/>
          </a:xfrm>
          <a:prstGeom prst="rect">
            <a:avLst/>
          </a:prstGeom>
          <a:noFill/>
        </p:spPr>
        <p:txBody>
          <a:bodyPr wrap="square" rtlCol="0">
            <a:spAutoFit/>
          </a:bodyPr>
          <a:lstStyle/>
          <a:p>
            <a:r>
              <a:rPr lang="en-US" sz="2800" b="1" i="0" u="none" strike="noStrike" dirty="0">
                <a:solidFill>
                  <a:schemeClr val="accent4">
                    <a:lumMod val="75000"/>
                  </a:schemeClr>
                </a:solidFill>
                <a:effectLst/>
                <a:latin typeface="Urbanist"/>
              </a:rPr>
              <a:t>Collective Responsibilities</a:t>
            </a:r>
            <a:endParaRPr lang="en-US" sz="2800" dirty="0">
              <a:solidFill>
                <a:schemeClr val="accent4">
                  <a:lumMod val="75000"/>
                </a:schemeClr>
              </a:solidFill>
              <a:effectLst/>
            </a:endParaRPr>
          </a:p>
          <a:p>
            <a:endParaRPr lang="en-US" dirty="0"/>
          </a:p>
        </p:txBody>
      </p:sp>
      <p:cxnSp>
        <p:nvCxnSpPr>
          <p:cNvPr id="25" name="Straight Arrow Connector 24">
            <a:extLst>
              <a:ext uri="{FF2B5EF4-FFF2-40B4-BE49-F238E27FC236}">
                <a16:creationId xmlns:a16="http://schemas.microsoft.com/office/drawing/2014/main" id="{CD530D50-3A40-6930-45EE-8F7A51DC2822}"/>
              </a:ext>
            </a:extLst>
          </p:cNvPr>
          <p:cNvCxnSpPr>
            <a:cxnSpLocks/>
          </p:cNvCxnSpPr>
          <p:nvPr/>
        </p:nvCxnSpPr>
        <p:spPr>
          <a:xfrm>
            <a:off x="4223385" y="313438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72ECEA8-54B1-0D9C-D8F7-25BF469C755F}"/>
              </a:ext>
            </a:extLst>
          </p:cNvPr>
          <p:cNvCxnSpPr>
            <a:cxnSpLocks/>
          </p:cNvCxnSpPr>
          <p:nvPr/>
        </p:nvCxnSpPr>
        <p:spPr>
          <a:xfrm>
            <a:off x="4213225" y="387606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DAD2F3C-6C29-FC8B-F049-8E0A5EACA2DE}"/>
              </a:ext>
            </a:extLst>
          </p:cNvPr>
          <p:cNvCxnSpPr>
            <a:cxnSpLocks/>
          </p:cNvCxnSpPr>
          <p:nvPr/>
        </p:nvCxnSpPr>
        <p:spPr>
          <a:xfrm>
            <a:off x="4274185" y="530862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CB5390F-ACB3-6BA7-A711-C1C859363B3A}"/>
              </a:ext>
            </a:extLst>
          </p:cNvPr>
          <p:cNvCxnSpPr>
            <a:cxnSpLocks/>
          </p:cNvCxnSpPr>
          <p:nvPr/>
        </p:nvCxnSpPr>
        <p:spPr>
          <a:xfrm>
            <a:off x="4243705" y="460758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4">
            <a:extLst>
              <a:ext uri="{FF2B5EF4-FFF2-40B4-BE49-F238E27FC236}">
                <a16:creationId xmlns:a16="http://schemas.microsoft.com/office/drawing/2014/main" id="{7BE92A91-61EE-05C5-D7E5-B6DB03D656F7}"/>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38240" y="4687283"/>
            <a:ext cx="1524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CDB76EF2-0553-69EF-2D73-AE605510217E}"/>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28080" y="4240243"/>
            <a:ext cx="152400" cy="1809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F6E0D3B-E5E6-8FED-D440-E501BD0451BE}"/>
              </a:ext>
            </a:extLst>
          </p:cNvPr>
          <p:cNvSpPr txBox="1"/>
          <p:nvPr/>
        </p:nvSpPr>
        <p:spPr>
          <a:xfrm>
            <a:off x="670560" y="203200"/>
            <a:ext cx="6573520" cy="1261884"/>
          </a:xfrm>
          <a:prstGeom prst="rect">
            <a:avLst/>
          </a:prstGeom>
          <a:noFill/>
        </p:spPr>
        <p:txBody>
          <a:bodyPr wrap="square" rtlCol="0">
            <a:spAutoFit/>
          </a:bodyPr>
          <a:lstStyle/>
          <a:p>
            <a:r>
              <a:rPr lang="en-US" sz="3200" b="1" dirty="0">
                <a:solidFill>
                  <a:schemeClr val="accent1">
                    <a:lumMod val="60000"/>
                    <a:lumOff val="40000"/>
                  </a:schemeClr>
                </a:solidFill>
                <a:latin typeface="Lucida Console" panose="020B0609040504020204" pitchFamily="49" charset="0"/>
              </a:rPr>
              <a:t>GAMEPLAY</a:t>
            </a:r>
            <a:endParaRPr lang="en-US" sz="2800" b="1" dirty="0">
              <a:solidFill>
                <a:schemeClr val="accent1">
                  <a:lumMod val="60000"/>
                  <a:lumOff val="40000"/>
                </a:schemeClr>
              </a:solidFill>
              <a:latin typeface="Lucida Console" panose="020B0609040504020204" pitchFamily="49" charset="0"/>
            </a:endParaRPr>
          </a:p>
          <a:p>
            <a:r>
              <a:rPr lang="en-US" sz="4400" b="1" dirty="0">
                <a:latin typeface="Lucida Console" panose="020B0609040504020204" pitchFamily="49" charset="0"/>
              </a:rPr>
              <a:t>LOGIC TEAM</a:t>
            </a:r>
            <a:endParaRPr lang="en-US" sz="4400" dirty="0">
              <a:latin typeface="Lucida Console" panose="020B0609040504020204" pitchFamily="49" charset="0"/>
            </a:endParaRPr>
          </a:p>
        </p:txBody>
      </p:sp>
      <p:sp>
        <p:nvSpPr>
          <p:cNvPr id="8" name="Rectangle 1">
            <a:extLst>
              <a:ext uri="{FF2B5EF4-FFF2-40B4-BE49-F238E27FC236}">
                <a16:creationId xmlns:a16="http://schemas.microsoft.com/office/drawing/2014/main" id="{EBDEFC29-2CD0-D5AC-695F-35A2B95C5FD6}"/>
              </a:ext>
            </a:extLst>
          </p:cNvPr>
          <p:cNvSpPr>
            <a:spLocks noChangeArrowheads="1"/>
          </p:cNvSpPr>
          <p:nvPr/>
        </p:nvSpPr>
        <p:spPr bwMode="auto">
          <a:xfrm>
            <a:off x="795720" y="3270936"/>
            <a:ext cx="2416046"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i="0" u="none" strike="noStrike" cap="none" normalizeH="0" baseline="0" dirty="0">
                <a:ln>
                  <a:noFill/>
                </a:ln>
                <a:solidFill>
                  <a:schemeClr val="tx1"/>
                </a:solidFill>
                <a:effectLst/>
                <a:latin typeface="Arial" panose="020B0604020202020204" pitchFamily="34" charset="0"/>
              </a:rPr>
              <a:t>Eman Mohammad</a:t>
            </a:r>
          </a:p>
          <a:p>
            <a:pPr defTabSz="914400" eaLnBrk="0" fontAlgn="base" hangingPunct="0">
              <a:lnSpc>
                <a:spcPct val="150000"/>
              </a:lnSpc>
              <a:spcBef>
                <a:spcPct val="0"/>
              </a:spcBef>
              <a:spcAft>
                <a:spcPct val="0"/>
              </a:spcAft>
            </a:pPr>
            <a:r>
              <a:rPr lang="en-US" altLang="en-US" dirty="0">
                <a:latin typeface="Arial" panose="020B0604020202020204" pitchFamily="34" charset="0"/>
              </a:rPr>
              <a:t>Abanoub Hany Fahim</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Helen Hany</a:t>
            </a:r>
          </a:p>
          <a:p>
            <a:pPr marL="0" marR="0" lvl="0" indent="0" algn="l" defTabSz="914400" rtl="0" eaLnBrk="0" fontAlgn="base" latinLnBrk="0" hangingPunct="0">
              <a:lnSpc>
                <a:spcPct val="15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Haneen Amr</a:t>
            </a:r>
          </a:p>
        </p:txBody>
      </p:sp>
      <p:sp>
        <p:nvSpPr>
          <p:cNvPr id="22" name="TextBox 21">
            <a:extLst>
              <a:ext uri="{FF2B5EF4-FFF2-40B4-BE49-F238E27FC236}">
                <a16:creationId xmlns:a16="http://schemas.microsoft.com/office/drawing/2014/main" id="{780EB91A-2521-21D9-F939-EE231F8CF9DD}"/>
              </a:ext>
            </a:extLst>
          </p:cNvPr>
          <p:cNvSpPr txBox="1"/>
          <p:nvPr/>
        </p:nvSpPr>
        <p:spPr>
          <a:xfrm>
            <a:off x="4558665" y="2958535"/>
            <a:ext cx="7528560" cy="338554"/>
          </a:xfrm>
          <a:prstGeom prst="rect">
            <a:avLst/>
          </a:prstGeom>
          <a:noFill/>
        </p:spPr>
        <p:txBody>
          <a:bodyPr wrap="square">
            <a:spAutoFit/>
          </a:bodyPr>
          <a:lstStyle/>
          <a:p>
            <a:r>
              <a:rPr lang="en-US" sz="1600" b="1" dirty="0"/>
              <a:t>Character Class System:</a:t>
            </a:r>
            <a:r>
              <a:rPr lang="en-US" sz="1600" dirty="0"/>
              <a:t> Designing Heavy, Tall, and Nimble abilities</a:t>
            </a:r>
          </a:p>
        </p:txBody>
      </p:sp>
      <p:sp>
        <p:nvSpPr>
          <p:cNvPr id="24" name="TextBox 23">
            <a:extLst>
              <a:ext uri="{FF2B5EF4-FFF2-40B4-BE49-F238E27FC236}">
                <a16:creationId xmlns:a16="http://schemas.microsoft.com/office/drawing/2014/main" id="{D0CAFE95-33E3-DBDF-BD7F-14E8A0BE5298}"/>
              </a:ext>
            </a:extLst>
          </p:cNvPr>
          <p:cNvSpPr txBox="1"/>
          <p:nvPr/>
        </p:nvSpPr>
        <p:spPr>
          <a:xfrm>
            <a:off x="4558665" y="3703340"/>
            <a:ext cx="6634480" cy="338554"/>
          </a:xfrm>
          <a:prstGeom prst="rect">
            <a:avLst/>
          </a:prstGeom>
          <a:noFill/>
        </p:spPr>
        <p:txBody>
          <a:bodyPr wrap="square" rtlCol="0">
            <a:spAutoFit/>
          </a:bodyPr>
          <a:lstStyle/>
          <a:p>
            <a:r>
              <a:rPr lang="en-US" sz="1600" b="1" dirty="0"/>
              <a:t>Puzzle Interaction Logic:</a:t>
            </a:r>
            <a:r>
              <a:rPr lang="en-US" sz="1600" dirty="0"/>
              <a:t> Developing pressure plates and timed doors</a:t>
            </a:r>
          </a:p>
        </p:txBody>
      </p:sp>
      <p:sp>
        <p:nvSpPr>
          <p:cNvPr id="33" name="TextBox 32">
            <a:extLst>
              <a:ext uri="{FF2B5EF4-FFF2-40B4-BE49-F238E27FC236}">
                <a16:creationId xmlns:a16="http://schemas.microsoft.com/office/drawing/2014/main" id="{CAE551A0-C945-3D8C-6D7E-C33342A2C7DE}"/>
              </a:ext>
            </a:extLst>
          </p:cNvPr>
          <p:cNvSpPr txBox="1"/>
          <p:nvPr/>
        </p:nvSpPr>
        <p:spPr>
          <a:xfrm>
            <a:off x="4573905" y="4411415"/>
            <a:ext cx="7198360" cy="338554"/>
          </a:xfrm>
          <a:prstGeom prst="rect">
            <a:avLst/>
          </a:prstGeom>
          <a:noFill/>
        </p:spPr>
        <p:txBody>
          <a:bodyPr wrap="square">
            <a:spAutoFit/>
          </a:bodyPr>
          <a:lstStyle/>
          <a:p>
            <a:r>
              <a:rPr lang="en-US" sz="1600" b="1" dirty="0"/>
              <a:t>Entity State Management:</a:t>
            </a:r>
            <a:r>
              <a:rPr lang="en-US" sz="1600" dirty="0"/>
              <a:t> Handling movement physics and interaction triggers</a:t>
            </a:r>
          </a:p>
        </p:txBody>
      </p:sp>
      <p:sp>
        <p:nvSpPr>
          <p:cNvPr id="35" name="TextBox 34">
            <a:extLst>
              <a:ext uri="{FF2B5EF4-FFF2-40B4-BE49-F238E27FC236}">
                <a16:creationId xmlns:a16="http://schemas.microsoft.com/office/drawing/2014/main" id="{1DE0AC27-AB9A-409B-0C70-97CF9CFAB372}"/>
              </a:ext>
            </a:extLst>
          </p:cNvPr>
          <p:cNvSpPr txBox="1"/>
          <p:nvPr/>
        </p:nvSpPr>
        <p:spPr>
          <a:xfrm>
            <a:off x="4634865" y="5132775"/>
            <a:ext cx="7350760" cy="338554"/>
          </a:xfrm>
          <a:prstGeom prst="rect">
            <a:avLst/>
          </a:prstGeom>
          <a:noFill/>
        </p:spPr>
        <p:txBody>
          <a:bodyPr wrap="square">
            <a:spAutoFit/>
          </a:bodyPr>
          <a:lstStyle/>
          <a:p>
            <a:r>
              <a:rPr lang="en-US" sz="1600" b="1" dirty="0"/>
              <a:t>Cooperative Mechanics:</a:t>
            </a:r>
            <a:r>
              <a:rPr lang="en-US" sz="1600" dirty="0"/>
              <a:t> Implementing multi-player environmental challenges.</a:t>
            </a:r>
          </a:p>
        </p:txBody>
      </p:sp>
    </p:spTree>
    <p:extLst>
      <p:ext uri="{BB962C8B-B14F-4D97-AF65-F5344CB8AC3E}">
        <p14:creationId xmlns:p14="http://schemas.microsoft.com/office/powerpoint/2010/main" val="3967130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F91A421-DC62-E5F2-DE82-B6A472FE303F}"/>
              </a:ext>
            </a:extLst>
          </p:cNvPr>
          <p:cNvSpPr/>
          <p:nvPr/>
        </p:nvSpPr>
        <p:spPr>
          <a:xfrm>
            <a:off x="288697" y="1854200"/>
            <a:ext cx="3419475" cy="43992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0" name="Rectangle 9">
            <a:extLst>
              <a:ext uri="{FF2B5EF4-FFF2-40B4-BE49-F238E27FC236}">
                <a16:creationId xmlns:a16="http://schemas.microsoft.com/office/drawing/2014/main" id="{BBE586BB-235F-4D33-7EE9-7CA942AC9BAF}"/>
              </a:ext>
            </a:extLst>
          </p:cNvPr>
          <p:cNvSpPr/>
          <p:nvPr/>
        </p:nvSpPr>
        <p:spPr>
          <a:xfrm>
            <a:off x="3867150" y="1854200"/>
            <a:ext cx="7962901" cy="43992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3" name="TextBox 2">
            <a:extLst>
              <a:ext uri="{FF2B5EF4-FFF2-40B4-BE49-F238E27FC236}">
                <a16:creationId xmlns:a16="http://schemas.microsoft.com/office/drawing/2014/main" id="{6BD134CE-6E25-F460-E6F3-99019CC09726}"/>
              </a:ext>
            </a:extLst>
          </p:cNvPr>
          <p:cNvSpPr txBox="1"/>
          <p:nvPr/>
        </p:nvSpPr>
        <p:spPr>
          <a:xfrm>
            <a:off x="3048000" y="3577709"/>
            <a:ext cx="6096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 </a:t>
            </a:r>
          </a:p>
        </p:txBody>
      </p:sp>
      <p:sp>
        <p:nvSpPr>
          <p:cNvPr id="5" name="TextBox 4">
            <a:extLst>
              <a:ext uri="{FF2B5EF4-FFF2-40B4-BE49-F238E27FC236}">
                <a16:creationId xmlns:a16="http://schemas.microsoft.com/office/drawing/2014/main" id="{9275FE77-94EA-F84B-9D65-FEEAF986A672}"/>
              </a:ext>
            </a:extLst>
          </p:cNvPr>
          <p:cNvSpPr txBox="1"/>
          <p:nvPr/>
        </p:nvSpPr>
        <p:spPr>
          <a:xfrm>
            <a:off x="3048000" y="3577709"/>
            <a:ext cx="6096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 </a:t>
            </a:r>
          </a:p>
        </p:txBody>
      </p:sp>
      <p:cxnSp>
        <p:nvCxnSpPr>
          <p:cNvPr id="9" name="Straight Connector 8">
            <a:extLst>
              <a:ext uri="{FF2B5EF4-FFF2-40B4-BE49-F238E27FC236}">
                <a16:creationId xmlns:a16="http://schemas.microsoft.com/office/drawing/2014/main" id="{936F4B95-C4A0-3895-7910-617877439E1C}"/>
              </a:ext>
            </a:extLst>
          </p:cNvPr>
          <p:cNvCxnSpPr>
            <a:cxnSpLocks/>
          </p:cNvCxnSpPr>
          <p:nvPr/>
        </p:nvCxnSpPr>
        <p:spPr>
          <a:xfrm flipH="1">
            <a:off x="604520" y="195431"/>
            <a:ext cx="5080" cy="1024097"/>
          </a:xfrm>
          <a:prstGeom prst="line">
            <a:avLst/>
          </a:prstGeom>
          <a:ln w="76200">
            <a:solidFill>
              <a:srgbClr val="0E284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8816809-2C05-74CC-8018-1FCB94C12185}"/>
              </a:ext>
            </a:extLst>
          </p:cNvPr>
          <p:cNvSpPr txBox="1"/>
          <p:nvPr/>
        </p:nvSpPr>
        <p:spPr>
          <a:xfrm>
            <a:off x="731662" y="100122"/>
            <a:ext cx="6238240" cy="126188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200" b="1" dirty="0">
                <a:solidFill>
                  <a:schemeClr val="accent1">
                    <a:lumMod val="60000"/>
                    <a:lumOff val="40000"/>
                  </a:schemeClr>
                </a:solidFill>
                <a:latin typeface="Lucida Console" panose="020B0609040504020204" pitchFamily="49" charset="0"/>
              </a:rPr>
              <a:t>NETWORK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4400" b="1" dirty="0">
                <a:latin typeface="Lucida Console" panose="020B0609040504020204" pitchFamily="49" charset="0"/>
              </a:rPr>
              <a:t>SYNCHRONIZATION</a:t>
            </a:r>
            <a:endParaRPr kumimoji="0" lang="en-US" sz="4400" b="0" i="0" u="none" strike="noStrike" kern="1200" cap="none" spc="0" normalizeH="0" baseline="0" noProof="0" dirty="0">
              <a:ln>
                <a:noFill/>
              </a:ln>
              <a:solidFill>
                <a:prstClr val="white"/>
              </a:solidFill>
              <a:effectLst/>
              <a:uLnTx/>
              <a:uFillTx/>
              <a:latin typeface="Lucida Console" panose="020B0609040504020204" pitchFamily="49" charset="0"/>
            </a:endParaRPr>
          </a:p>
        </p:txBody>
      </p:sp>
      <p:sp>
        <p:nvSpPr>
          <p:cNvPr id="15" name="TextBox 14">
            <a:extLst>
              <a:ext uri="{FF2B5EF4-FFF2-40B4-BE49-F238E27FC236}">
                <a16:creationId xmlns:a16="http://schemas.microsoft.com/office/drawing/2014/main" id="{42A6B1AE-0867-7AA0-5CEC-2861BA88AE1D}"/>
              </a:ext>
            </a:extLst>
          </p:cNvPr>
          <p:cNvSpPr txBox="1"/>
          <p:nvPr/>
        </p:nvSpPr>
        <p:spPr>
          <a:xfrm>
            <a:off x="685942" y="2845742"/>
            <a:ext cx="227584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Urbanist"/>
                <a:ea typeface="+mn-ea"/>
                <a:cs typeface="+mn-cs"/>
              </a:rPr>
              <a:t>Team Members</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D5645790-A1EA-B2AA-9217-F748B04640A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31662" y="3559681"/>
            <a:ext cx="152400" cy="180975"/>
          </a:xfrm>
          <a:prstGeom prst="rect">
            <a:avLst/>
          </a:prstGeom>
          <a:noFill/>
        </p:spPr>
      </p:pic>
      <p:sp>
        <p:nvSpPr>
          <p:cNvPr id="18" name="TextBox 17">
            <a:extLst>
              <a:ext uri="{FF2B5EF4-FFF2-40B4-BE49-F238E27FC236}">
                <a16:creationId xmlns:a16="http://schemas.microsoft.com/office/drawing/2014/main" id="{6ECC455D-0310-5741-D7F4-A84EA8664894}"/>
              </a:ext>
            </a:extLst>
          </p:cNvPr>
          <p:cNvSpPr txBox="1"/>
          <p:nvPr/>
        </p:nvSpPr>
        <p:spPr>
          <a:xfrm>
            <a:off x="4951637" y="2359025"/>
            <a:ext cx="437896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4">
                    <a:lumMod val="75000"/>
                  </a:schemeClr>
                </a:solidFill>
                <a:effectLst/>
                <a:uLnTx/>
                <a:uFillTx/>
                <a:latin typeface="Urbanist"/>
                <a:ea typeface="+mn-ea"/>
                <a:cs typeface="+mn-cs"/>
              </a:rPr>
              <a:t>Collective Responsibilities</a:t>
            </a:r>
            <a:endParaRPr kumimoji="0" lang="en-US" sz="2800" b="0" i="0" u="none" strike="noStrike" kern="1200" cap="none" spc="0" normalizeH="0" baseline="0" noProof="0" dirty="0">
              <a:ln>
                <a:noFill/>
              </a:ln>
              <a:solidFill>
                <a:schemeClr val="accent4">
                  <a:lumMod val="75000"/>
                </a:schemeClr>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accent4">
                  <a:lumMod val="75000"/>
                </a:schemeClr>
              </a:solidFill>
              <a:effectLst/>
              <a:uLnTx/>
              <a:uFillTx/>
              <a:latin typeface="Aptos" panose="02110004020202020204"/>
              <a:ea typeface="+mn-ea"/>
              <a:cs typeface="+mn-cs"/>
            </a:endParaRPr>
          </a:p>
        </p:txBody>
      </p:sp>
      <p:cxnSp>
        <p:nvCxnSpPr>
          <p:cNvPr id="25" name="Straight Arrow Connector 24">
            <a:extLst>
              <a:ext uri="{FF2B5EF4-FFF2-40B4-BE49-F238E27FC236}">
                <a16:creationId xmlns:a16="http://schemas.microsoft.com/office/drawing/2014/main" id="{CD530D50-3A40-6930-45EE-8F7A51DC2822}"/>
              </a:ext>
            </a:extLst>
          </p:cNvPr>
          <p:cNvCxnSpPr>
            <a:cxnSpLocks/>
          </p:cNvCxnSpPr>
          <p:nvPr/>
        </p:nvCxnSpPr>
        <p:spPr>
          <a:xfrm>
            <a:off x="4585877" y="3324225"/>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72ECEA8-54B1-0D9C-D8F7-25BF469C755F}"/>
              </a:ext>
            </a:extLst>
          </p:cNvPr>
          <p:cNvCxnSpPr>
            <a:cxnSpLocks/>
          </p:cNvCxnSpPr>
          <p:nvPr/>
        </p:nvCxnSpPr>
        <p:spPr>
          <a:xfrm>
            <a:off x="4571472" y="4192971"/>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DAD2F3C-6C29-FC8B-F049-8E0A5EACA2DE}"/>
              </a:ext>
            </a:extLst>
          </p:cNvPr>
          <p:cNvCxnSpPr>
            <a:cxnSpLocks/>
          </p:cNvCxnSpPr>
          <p:nvPr/>
        </p:nvCxnSpPr>
        <p:spPr>
          <a:xfrm>
            <a:off x="4562985" y="5035221"/>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2">
            <a:extLst>
              <a:ext uri="{FF2B5EF4-FFF2-40B4-BE49-F238E27FC236}">
                <a16:creationId xmlns:a16="http://schemas.microsoft.com/office/drawing/2014/main" id="{44FCCDDB-8169-44DD-1B93-2892890ECF5D}"/>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21502" y="3996561"/>
            <a:ext cx="152400" cy="180975"/>
          </a:xfrm>
          <a:prstGeom prst="rect">
            <a:avLst/>
          </a:prstGeom>
          <a:noFill/>
        </p:spPr>
      </p:pic>
      <p:sp>
        <p:nvSpPr>
          <p:cNvPr id="4" name="TextBox 3">
            <a:extLst>
              <a:ext uri="{FF2B5EF4-FFF2-40B4-BE49-F238E27FC236}">
                <a16:creationId xmlns:a16="http://schemas.microsoft.com/office/drawing/2014/main" id="{EE479F92-E76D-BB28-D5F1-3D639B157FDB}"/>
              </a:ext>
            </a:extLst>
          </p:cNvPr>
          <p:cNvSpPr txBox="1"/>
          <p:nvPr/>
        </p:nvSpPr>
        <p:spPr>
          <a:xfrm>
            <a:off x="929782" y="3370768"/>
            <a:ext cx="1747520" cy="883383"/>
          </a:xfrm>
          <a:prstGeom prst="rect">
            <a:avLst/>
          </a:prstGeom>
          <a:noFill/>
        </p:spPr>
        <p:txBody>
          <a:bodyPr wrap="square" rtlCol="0">
            <a:spAutoFit/>
          </a:bodyPr>
          <a:lstStyle/>
          <a:p>
            <a:pPr>
              <a:lnSpc>
                <a:spcPct val="150000"/>
              </a:lnSpc>
            </a:pPr>
            <a:r>
              <a:rPr lang="en-US" dirty="0"/>
              <a:t>Youssef Sameh</a:t>
            </a:r>
            <a:endParaRPr lang="ar-EG" dirty="0"/>
          </a:p>
          <a:p>
            <a:pPr>
              <a:lnSpc>
                <a:spcPct val="150000"/>
              </a:lnSpc>
            </a:pPr>
            <a:r>
              <a:rPr lang="en-US" dirty="0"/>
              <a:t>Seif Allah Wael</a:t>
            </a:r>
          </a:p>
        </p:txBody>
      </p:sp>
      <p:sp>
        <p:nvSpPr>
          <p:cNvPr id="6" name="TextBox 5">
            <a:extLst>
              <a:ext uri="{FF2B5EF4-FFF2-40B4-BE49-F238E27FC236}">
                <a16:creationId xmlns:a16="http://schemas.microsoft.com/office/drawing/2014/main" id="{EC58EFC9-60EC-BDF0-149C-A2218A25787E}"/>
              </a:ext>
            </a:extLst>
          </p:cNvPr>
          <p:cNvSpPr txBox="1"/>
          <p:nvPr/>
        </p:nvSpPr>
        <p:spPr>
          <a:xfrm>
            <a:off x="4969641" y="3157163"/>
            <a:ext cx="6490697" cy="338554"/>
          </a:xfrm>
          <a:prstGeom prst="rect">
            <a:avLst/>
          </a:prstGeom>
          <a:noFill/>
        </p:spPr>
        <p:txBody>
          <a:bodyPr wrap="square" rtlCol="0">
            <a:spAutoFit/>
          </a:bodyPr>
          <a:lstStyle/>
          <a:p>
            <a:r>
              <a:rPr lang="en-US" sz="1600" b="1" dirty="0"/>
              <a:t>Relay Server Infrastructure:</a:t>
            </a:r>
            <a:r>
              <a:rPr lang="en-US" sz="1600" dirty="0"/>
              <a:t> Establishing raw Socket communication</a:t>
            </a:r>
          </a:p>
        </p:txBody>
      </p:sp>
      <p:sp>
        <p:nvSpPr>
          <p:cNvPr id="8" name="TextBox 7">
            <a:extLst>
              <a:ext uri="{FF2B5EF4-FFF2-40B4-BE49-F238E27FC236}">
                <a16:creationId xmlns:a16="http://schemas.microsoft.com/office/drawing/2014/main" id="{7785004B-5DE4-BBA2-88C1-53A1E34A6938}"/>
              </a:ext>
            </a:extLst>
          </p:cNvPr>
          <p:cNvSpPr txBox="1"/>
          <p:nvPr/>
        </p:nvSpPr>
        <p:spPr>
          <a:xfrm>
            <a:off x="4923537" y="4002269"/>
            <a:ext cx="6094070" cy="338554"/>
          </a:xfrm>
          <a:prstGeom prst="rect">
            <a:avLst/>
          </a:prstGeom>
          <a:noFill/>
        </p:spPr>
        <p:txBody>
          <a:bodyPr wrap="square">
            <a:spAutoFit/>
          </a:bodyPr>
          <a:lstStyle/>
          <a:p>
            <a:r>
              <a:rPr lang="en-US" sz="1600" b="1" dirty="0"/>
              <a:t>Data Serialization:</a:t>
            </a:r>
            <a:r>
              <a:rPr lang="en-US" sz="1600" dirty="0"/>
              <a:t> Designing efficient packet transfer protocols</a:t>
            </a:r>
          </a:p>
        </p:txBody>
      </p:sp>
      <p:sp>
        <p:nvSpPr>
          <p:cNvPr id="14" name="TextBox 13">
            <a:extLst>
              <a:ext uri="{FF2B5EF4-FFF2-40B4-BE49-F238E27FC236}">
                <a16:creationId xmlns:a16="http://schemas.microsoft.com/office/drawing/2014/main" id="{4B7B3500-3341-D05E-E21F-2D3058128920}"/>
              </a:ext>
            </a:extLst>
          </p:cNvPr>
          <p:cNvSpPr txBox="1"/>
          <p:nvPr/>
        </p:nvSpPr>
        <p:spPr>
          <a:xfrm>
            <a:off x="4946686" y="4858796"/>
            <a:ext cx="6094070" cy="338554"/>
          </a:xfrm>
          <a:prstGeom prst="rect">
            <a:avLst/>
          </a:prstGeom>
          <a:noFill/>
        </p:spPr>
        <p:txBody>
          <a:bodyPr wrap="square">
            <a:spAutoFit/>
          </a:bodyPr>
          <a:lstStyle/>
          <a:p>
            <a:r>
              <a:rPr lang="en-US" sz="1600" b="1" dirty="0"/>
              <a:t>State Synchronization:</a:t>
            </a:r>
            <a:r>
              <a:rPr lang="en-US" sz="1600" dirty="0"/>
              <a:t> Ensuring zero latency between players</a:t>
            </a:r>
          </a:p>
        </p:txBody>
      </p:sp>
    </p:spTree>
    <p:extLst>
      <p:ext uri="{BB962C8B-B14F-4D97-AF65-F5344CB8AC3E}">
        <p14:creationId xmlns:p14="http://schemas.microsoft.com/office/powerpoint/2010/main" val="147037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D055315-CFDC-5173-3516-58A5333256B5}"/>
              </a:ext>
            </a:extLst>
          </p:cNvPr>
          <p:cNvSpPr/>
          <p:nvPr/>
        </p:nvSpPr>
        <p:spPr>
          <a:xfrm>
            <a:off x="183810" y="1392976"/>
            <a:ext cx="6685896" cy="4332162"/>
          </a:xfrm>
          <a:prstGeom prst="rect">
            <a:avLst/>
          </a:prstGeom>
          <a:solidFill>
            <a:srgbClr val="292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2" name="TextBox 1">
            <a:extLst>
              <a:ext uri="{FF2B5EF4-FFF2-40B4-BE49-F238E27FC236}">
                <a16:creationId xmlns:a16="http://schemas.microsoft.com/office/drawing/2014/main" id="{E854CFE9-0DEC-7DC3-97A7-F20626E514B7}"/>
              </a:ext>
            </a:extLst>
          </p:cNvPr>
          <p:cNvSpPr txBox="1"/>
          <p:nvPr/>
        </p:nvSpPr>
        <p:spPr>
          <a:xfrm>
            <a:off x="370972" y="1312013"/>
            <a:ext cx="6174804" cy="2308324"/>
          </a:xfrm>
          <a:prstGeom prst="rect">
            <a:avLst/>
          </a:prstGeom>
          <a:noFill/>
        </p:spPr>
        <p:txBody>
          <a:bodyPr wrap="square" rtlCol="0">
            <a:spAutoFit/>
          </a:bodyPr>
          <a:lstStyle/>
          <a:p>
            <a:endParaRPr lang="ar-EG" dirty="0"/>
          </a:p>
          <a:p>
            <a:r>
              <a:rPr lang="en-US" dirty="0"/>
              <a:t>During the research phase of our project, we identified a critical limitation of standard C++ arrays: their size must be defined at compile time and cannot be modified during runtime. In the context of a game engine, where the number of active entities — including players, push</a:t>
            </a:r>
            <a:r>
              <a:rPr lang="ar-EG" dirty="0"/>
              <a:t>-</a:t>
            </a:r>
            <a:r>
              <a:rPr lang="en-US" dirty="0"/>
              <a:t>able boxes, and buttons</a:t>
            </a:r>
            <a:r>
              <a:rPr lang="ar-EG" dirty="0"/>
              <a:t> </a:t>
            </a:r>
            <a:r>
              <a:rPr lang="en-US" dirty="0"/>
              <a:t>— changes dynamically throughout gameplay, this constraint is unacceptable.</a:t>
            </a:r>
            <a:endParaRPr lang="ar-EG" sz="1600" dirty="0"/>
          </a:p>
        </p:txBody>
      </p:sp>
      <p:sp>
        <p:nvSpPr>
          <p:cNvPr id="5" name="Rectangle 3">
            <a:extLst>
              <a:ext uri="{FF2B5EF4-FFF2-40B4-BE49-F238E27FC236}">
                <a16:creationId xmlns:a16="http://schemas.microsoft.com/office/drawing/2014/main" id="{7A3DD66E-B8AC-7545-064A-D1F3B66481E6}"/>
              </a:ext>
            </a:extLst>
          </p:cNvPr>
          <p:cNvSpPr>
            <a:spLocks noChangeArrowheads="1"/>
          </p:cNvSpPr>
          <p:nvPr/>
        </p:nvSpPr>
        <p:spPr bwMode="auto">
          <a:xfrm>
            <a:off x="370972" y="4080029"/>
            <a:ext cx="603803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We therefore adopted </a:t>
            </a:r>
            <a:r>
              <a:rPr kumimoji="0" lang="en-US" altLang="en-US" sz="2000" b="0" i="0" u="none" strike="noStrike" cap="none" normalizeH="0" baseline="0" dirty="0">
                <a:ln>
                  <a:noFill/>
                </a:ln>
                <a:solidFill>
                  <a:schemeClr val="tx1"/>
                </a:solidFill>
                <a:effectLst/>
                <a:latin typeface="Arial Unicode MS"/>
              </a:rPr>
              <a:t>vector</a:t>
            </a:r>
            <a:r>
              <a:rPr kumimoji="0" lang="en-US" altLang="en-US" sz="1600" b="0" i="0" u="none" strike="noStrike" cap="none" normalizeH="0" baseline="0" dirty="0">
                <a:ln>
                  <a:noFill/>
                </a:ln>
                <a:solidFill>
                  <a:schemeClr val="tx1"/>
                </a:solidFill>
                <a:effectLst/>
              </a:rPr>
              <a:t> from the C++ Standard Template Library, which provides a dynamically resizable array. This allows the engine to efficiently manage game objects in real time, adding and removing entities as needed without any predefined size restrictions.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D272F438-3E36-1B80-4F3D-DA15073F80D1}"/>
              </a:ext>
            </a:extLst>
          </p:cNvPr>
          <p:cNvGraphicFramePr>
            <a:graphicFrameLocks noGrp="1"/>
          </p:cNvGraphicFramePr>
          <p:nvPr>
            <p:extLst>
              <p:ext uri="{D42A27DB-BD31-4B8C-83A1-F6EECF244321}">
                <p14:modId xmlns:p14="http://schemas.microsoft.com/office/powerpoint/2010/main" val="3873051645"/>
              </p:ext>
            </p:extLst>
          </p:nvPr>
        </p:nvGraphicFramePr>
        <p:xfrm>
          <a:off x="7058480" y="1416150"/>
          <a:ext cx="4927117" cy="2930825"/>
        </p:xfrm>
        <a:graphic>
          <a:graphicData uri="http://schemas.openxmlformats.org/drawingml/2006/table">
            <a:tbl>
              <a:tblPr>
                <a:tableStyleId>{5940675A-B579-460E-94D1-54222C63F5DA}</a:tableStyleId>
              </a:tblPr>
              <a:tblGrid>
                <a:gridCol w="2496673">
                  <a:extLst>
                    <a:ext uri="{9D8B030D-6E8A-4147-A177-3AD203B41FA5}">
                      <a16:colId xmlns:a16="http://schemas.microsoft.com/office/drawing/2014/main" val="1086562723"/>
                    </a:ext>
                  </a:extLst>
                </a:gridCol>
                <a:gridCol w="2430444">
                  <a:extLst>
                    <a:ext uri="{9D8B030D-6E8A-4147-A177-3AD203B41FA5}">
                      <a16:colId xmlns:a16="http://schemas.microsoft.com/office/drawing/2014/main" val="1823292943"/>
                    </a:ext>
                  </a:extLst>
                </a:gridCol>
              </a:tblGrid>
              <a:tr h="685911">
                <a:tc>
                  <a:txBody>
                    <a:bodyPr/>
                    <a:lstStyle/>
                    <a:p>
                      <a:pPr algn="ctr"/>
                      <a:r>
                        <a:rPr lang="en-US" dirty="0">
                          <a:solidFill>
                            <a:schemeClr val="bg1"/>
                          </a:solidFill>
                        </a:rPr>
                        <a:t>Array</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133655"/>
                    </a:solidFill>
                  </a:tcPr>
                </a:tc>
                <a:tc>
                  <a:txBody>
                    <a:bodyPr/>
                    <a:lstStyle/>
                    <a:p>
                      <a:pPr algn="ctr"/>
                      <a:r>
                        <a:rPr lang="en-US" dirty="0">
                          <a:solidFill>
                            <a:schemeClr val="bg1"/>
                          </a:solidFill>
                        </a:rPr>
                        <a:t>Vector</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133655"/>
                    </a:solidFill>
                  </a:tcPr>
                </a:tc>
                <a:extLst>
                  <a:ext uri="{0D108BD9-81ED-4DB2-BD59-A6C34878D82A}">
                    <a16:rowId xmlns:a16="http://schemas.microsoft.com/office/drawing/2014/main" val="2796590505"/>
                  </a:ext>
                </a:extLst>
              </a:tr>
              <a:tr h="679735">
                <a:tc>
                  <a:txBody>
                    <a:bodyPr/>
                    <a:lstStyle/>
                    <a:p>
                      <a:pPr algn="ctr"/>
                      <a:r>
                        <a:rPr lang="en-US" dirty="0"/>
                        <a:t>Fixed size</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0C2236"/>
                    </a:solidFill>
                  </a:tcPr>
                </a:tc>
                <a:tc>
                  <a:txBody>
                    <a:bodyPr/>
                    <a:lstStyle/>
                    <a:p>
                      <a:pPr algn="ctr"/>
                      <a:r>
                        <a:rPr lang="en-US" dirty="0"/>
                        <a:t>Dynamic size</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0C2236"/>
                    </a:solidFill>
                  </a:tcPr>
                </a:tc>
                <a:extLst>
                  <a:ext uri="{0D108BD9-81ED-4DB2-BD59-A6C34878D82A}">
                    <a16:rowId xmlns:a16="http://schemas.microsoft.com/office/drawing/2014/main" val="1902152843"/>
                  </a:ext>
                </a:extLst>
              </a:tr>
              <a:tr h="795436">
                <a:tc>
                  <a:txBody>
                    <a:bodyPr/>
                    <a:lstStyle/>
                    <a:p>
                      <a:pPr marL="0" algn="ctr" defTabSz="914400" rtl="0" eaLnBrk="1" latinLnBrk="0" hangingPunct="1"/>
                      <a:r>
                        <a:rPr lang="en-US" sz="1800" kern="1200" dirty="0">
                          <a:solidFill>
                            <a:schemeClr val="tx1"/>
                          </a:solidFill>
                          <a:latin typeface="+mn-lt"/>
                          <a:ea typeface="+mn-ea"/>
                          <a:cs typeface="+mn-cs"/>
                        </a:rPr>
                        <a:t>Defined at compile time</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133655"/>
                    </a:solidFill>
                  </a:tcPr>
                </a:tc>
                <a:tc>
                  <a:txBody>
                    <a:bodyPr/>
                    <a:lstStyle/>
                    <a:p>
                      <a:pPr marL="0" algn="ctr" defTabSz="914400" rtl="0" eaLnBrk="1" latinLnBrk="0" hangingPunct="1"/>
                      <a:r>
                        <a:rPr lang="en-US" sz="1800" kern="1200" dirty="0">
                          <a:solidFill>
                            <a:schemeClr val="tx1"/>
                          </a:solidFill>
                          <a:latin typeface="+mn-lt"/>
                          <a:ea typeface="+mn-ea"/>
                          <a:cs typeface="+mn-cs"/>
                        </a:rPr>
                        <a:t>Resizes at runtime</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133655"/>
                    </a:solidFill>
                  </a:tcPr>
                </a:tc>
                <a:extLst>
                  <a:ext uri="{0D108BD9-81ED-4DB2-BD59-A6C34878D82A}">
                    <a16:rowId xmlns:a16="http://schemas.microsoft.com/office/drawing/2014/main" val="3192520683"/>
                  </a:ext>
                </a:extLst>
              </a:tr>
              <a:tr h="769743">
                <a:tc>
                  <a:txBody>
                    <a:bodyPr/>
                    <a:lstStyle/>
                    <a:p>
                      <a:pPr algn="ctr"/>
                      <a:r>
                        <a:rPr lang="en-US" dirty="0"/>
                        <a:t>Cannot add/remove</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0C2236"/>
                    </a:solidFill>
                  </a:tcPr>
                </a:tc>
                <a:tc>
                  <a:txBody>
                    <a:bodyPr/>
                    <a:lstStyle/>
                    <a:p>
                      <a:pPr algn="ctr"/>
                      <a:r>
                        <a:rPr lang="en-US" dirty="0"/>
                        <a:t>Add/remove freely</a:t>
                      </a:r>
                    </a:p>
                  </a:txBody>
                  <a:tcPr anchor="ct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lnTlToBr w="12700" cmpd="sng">
                      <a:noFill/>
                      <a:prstDash val="solid"/>
                    </a:lnTlToBr>
                    <a:lnBlToTr w="12700" cmpd="sng">
                      <a:noFill/>
                      <a:prstDash val="solid"/>
                    </a:lnBlToTr>
                    <a:solidFill>
                      <a:srgbClr val="0C2236"/>
                    </a:solidFill>
                  </a:tcPr>
                </a:tc>
                <a:extLst>
                  <a:ext uri="{0D108BD9-81ED-4DB2-BD59-A6C34878D82A}">
                    <a16:rowId xmlns:a16="http://schemas.microsoft.com/office/drawing/2014/main" val="79600610"/>
                  </a:ext>
                </a:extLst>
              </a:tr>
            </a:tbl>
          </a:graphicData>
        </a:graphic>
      </p:graphicFrame>
      <p:graphicFrame>
        <p:nvGraphicFramePr>
          <p:cNvPr id="4" name="Table 3">
            <a:extLst>
              <a:ext uri="{FF2B5EF4-FFF2-40B4-BE49-F238E27FC236}">
                <a16:creationId xmlns:a16="http://schemas.microsoft.com/office/drawing/2014/main" id="{9DE4E7CA-EBED-D07B-83A2-21D22FC5E1E1}"/>
              </a:ext>
            </a:extLst>
          </p:cNvPr>
          <p:cNvGraphicFramePr>
            <a:graphicFrameLocks noGrp="1"/>
          </p:cNvGraphicFramePr>
          <p:nvPr>
            <p:extLst>
              <p:ext uri="{D42A27DB-BD31-4B8C-83A1-F6EECF244321}">
                <p14:modId xmlns:p14="http://schemas.microsoft.com/office/powerpoint/2010/main" val="2329789225"/>
              </p:ext>
            </p:extLst>
          </p:nvPr>
        </p:nvGraphicFramePr>
        <p:xfrm>
          <a:off x="7058481" y="4346975"/>
          <a:ext cx="4927116" cy="1378162"/>
        </p:xfrm>
        <a:graphic>
          <a:graphicData uri="http://schemas.openxmlformats.org/drawingml/2006/table">
            <a:tbl>
              <a:tblPr firstRow="1" bandRow="1">
                <a:tableStyleId>{2D5ABB26-0587-4C30-8999-92F81FD0307C}</a:tableStyleId>
              </a:tblPr>
              <a:tblGrid>
                <a:gridCol w="2495094">
                  <a:extLst>
                    <a:ext uri="{9D8B030D-6E8A-4147-A177-3AD203B41FA5}">
                      <a16:colId xmlns:a16="http://schemas.microsoft.com/office/drawing/2014/main" val="1037990507"/>
                    </a:ext>
                  </a:extLst>
                </a:gridCol>
                <a:gridCol w="2432022">
                  <a:extLst>
                    <a:ext uri="{9D8B030D-6E8A-4147-A177-3AD203B41FA5}">
                      <a16:colId xmlns:a16="http://schemas.microsoft.com/office/drawing/2014/main" val="2267885516"/>
                    </a:ext>
                  </a:extLst>
                </a:gridCol>
              </a:tblGrid>
              <a:tr h="682225">
                <a:tc>
                  <a:txBody>
                    <a:bodyPr/>
                    <a:lstStyle/>
                    <a:p>
                      <a:pPr marL="0" algn="ctr" defTabSz="914400" rtl="0" eaLnBrk="1" latinLnBrk="0" hangingPunct="1">
                        <a:lnSpc>
                          <a:spcPct val="200000"/>
                        </a:lnSpc>
                      </a:pPr>
                      <a:r>
                        <a:rPr lang="en-US" sz="1800" kern="1200" dirty="0">
                          <a:solidFill>
                            <a:schemeClr val="tx1"/>
                          </a:solidFill>
                          <a:latin typeface="+mn-lt"/>
                          <a:ea typeface="+mn-ea"/>
                          <a:cs typeface="+mn-cs"/>
                        </a:rPr>
                        <a:t>Compile-time</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rgbClr val="133655"/>
                    </a:solidFill>
                  </a:tcPr>
                </a:tc>
                <a:tc>
                  <a:txBody>
                    <a:bodyPr/>
                    <a:lstStyle/>
                    <a:p>
                      <a:pPr algn="ctr">
                        <a:lnSpc>
                          <a:spcPct val="200000"/>
                        </a:lnSpc>
                      </a:pPr>
                      <a:r>
                        <a:rPr lang="en-US" dirty="0"/>
                        <a:t>runtime-Resize</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rgbClr val="133655"/>
                    </a:solidFill>
                  </a:tcPr>
                </a:tc>
                <a:extLst>
                  <a:ext uri="{0D108BD9-81ED-4DB2-BD59-A6C34878D82A}">
                    <a16:rowId xmlns:a16="http://schemas.microsoft.com/office/drawing/2014/main" val="2452312518"/>
                  </a:ext>
                </a:extLst>
              </a:tr>
              <a:tr h="695937">
                <a:tc>
                  <a:txBody>
                    <a:bodyPr/>
                    <a:lstStyle/>
                    <a:p>
                      <a:pPr marL="0" algn="ctr" defTabSz="914400" rtl="0" eaLnBrk="1" latinLnBrk="0" hangingPunct="1">
                        <a:lnSpc>
                          <a:spcPct val="200000"/>
                        </a:lnSpc>
                      </a:pPr>
                      <a:r>
                        <a:rPr lang="en-US" sz="1800" kern="1200" dirty="0">
                          <a:solidFill>
                            <a:schemeClr val="tx1"/>
                          </a:solidFill>
                          <a:latin typeface="+mn-lt"/>
                          <a:ea typeface="+mn-ea"/>
                          <a:cs typeface="+mn-cs"/>
                        </a:rPr>
                        <a:t>Manual Memory</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rgbClr val="0C2236"/>
                    </a:solidFill>
                  </a:tcPr>
                </a:tc>
                <a:tc>
                  <a:txBody>
                    <a:bodyPr/>
                    <a:lstStyle/>
                    <a:p>
                      <a:pPr algn="ctr">
                        <a:lnSpc>
                          <a:spcPct val="200000"/>
                        </a:lnSpc>
                      </a:pPr>
                      <a:r>
                        <a:rPr lang="en-US" dirty="0"/>
                        <a:t>Auto Managed</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rgbClr val="0C2236"/>
                    </a:solidFill>
                  </a:tcPr>
                </a:tc>
                <a:extLst>
                  <a:ext uri="{0D108BD9-81ED-4DB2-BD59-A6C34878D82A}">
                    <a16:rowId xmlns:a16="http://schemas.microsoft.com/office/drawing/2014/main" val="4098500468"/>
                  </a:ext>
                </a:extLst>
              </a:tr>
            </a:tbl>
          </a:graphicData>
        </a:graphic>
      </p:graphicFrame>
      <p:sp>
        <p:nvSpPr>
          <p:cNvPr id="9" name="TextBox 8">
            <a:extLst>
              <a:ext uri="{FF2B5EF4-FFF2-40B4-BE49-F238E27FC236}">
                <a16:creationId xmlns:a16="http://schemas.microsoft.com/office/drawing/2014/main" id="{DBCBBF18-A78D-320E-72F2-8AA20D4E59B7}"/>
              </a:ext>
            </a:extLst>
          </p:cNvPr>
          <p:cNvSpPr txBox="1"/>
          <p:nvPr/>
        </p:nvSpPr>
        <p:spPr>
          <a:xfrm>
            <a:off x="694677" y="379881"/>
            <a:ext cx="6096000" cy="584775"/>
          </a:xfrm>
          <a:prstGeom prst="rect">
            <a:avLst/>
          </a:prstGeom>
          <a:noFill/>
        </p:spPr>
        <p:txBody>
          <a:bodyPr wrap="square">
            <a:spAutoFit/>
          </a:bodyPr>
          <a:lstStyle/>
          <a:p>
            <a:pPr>
              <a:defRPr/>
            </a:pPr>
            <a:r>
              <a:rPr lang="en-US" sz="3200" b="1" dirty="0">
                <a:latin typeface="Lucida Console" panose="020B0609040504020204" pitchFamily="49" charset="0"/>
              </a:rPr>
              <a:t>Why</a:t>
            </a:r>
            <a:r>
              <a:rPr lang="en-US" sz="3200" b="1" dirty="0">
                <a:solidFill>
                  <a:schemeClr val="accent1">
                    <a:lumMod val="60000"/>
                    <a:lumOff val="40000"/>
                  </a:schemeClr>
                </a:solidFill>
                <a:latin typeface="Lucida Console" panose="020B0609040504020204" pitchFamily="49" charset="0"/>
              </a:rPr>
              <a:t> Vector </a:t>
            </a:r>
            <a:r>
              <a:rPr lang="en-US" sz="3200" b="1" dirty="0">
                <a:latin typeface="Lucida Console" panose="020B0609040504020204" pitchFamily="49" charset="0"/>
              </a:rPr>
              <a:t>over</a:t>
            </a:r>
            <a:r>
              <a:rPr lang="en-US" sz="3200" b="1" dirty="0">
                <a:solidFill>
                  <a:schemeClr val="accent1">
                    <a:lumMod val="60000"/>
                    <a:lumOff val="40000"/>
                  </a:schemeClr>
                </a:solidFill>
                <a:latin typeface="Lucida Console" panose="020B0609040504020204" pitchFamily="49" charset="0"/>
              </a:rPr>
              <a:t> Array</a:t>
            </a:r>
            <a:r>
              <a:rPr lang="en-US" sz="3200" b="1" dirty="0">
                <a:latin typeface="Lucida Console" panose="020B0609040504020204" pitchFamily="49" charset="0"/>
              </a:rPr>
              <a:t>?</a:t>
            </a:r>
            <a:endParaRPr lang="ar-EG" sz="3200" b="1" dirty="0">
              <a:latin typeface="Lucida Console" panose="020B0609040504020204" pitchFamily="49" charset="0"/>
            </a:endParaRPr>
          </a:p>
        </p:txBody>
      </p:sp>
      <p:cxnSp>
        <p:nvCxnSpPr>
          <p:cNvPr id="10" name="Straight Connector 9">
            <a:extLst>
              <a:ext uri="{FF2B5EF4-FFF2-40B4-BE49-F238E27FC236}">
                <a16:creationId xmlns:a16="http://schemas.microsoft.com/office/drawing/2014/main" id="{F2DA1D8B-4C69-2D1A-58A0-684415840C4E}"/>
              </a:ext>
            </a:extLst>
          </p:cNvPr>
          <p:cNvCxnSpPr>
            <a:cxnSpLocks/>
          </p:cNvCxnSpPr>
          <p:nvPr/>
        </p:nvCxnSpPr>
        <p:spPr>
          <a:xfrm>
            <a:off x="555155" y="365430"/>
            <a:ext cx="0" cy="617445"/>
          </a:xfrm>
          <a:prstGeom prst="line">
            <a:avLst/>
          </a:prstGeom>
          <a:ln w="76200"/>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AFFD5D8-55F8-5E14-3A64-331A8BFCB3E3}"/>
              </a:ext>
            </a:extLst>
          </p:cNvPr>
          <p:cNvCxnSpPr>
            <a:cxnSpLocks/>
          </p:cNvCxnSpPr>
          <p:nvPr/>
        </p:nvCxnSpPr>
        <p:spPr>
          <a:xfrm>
            <a:off x="104775" y="3880450"/>
            <a:ext cx="6764931" cy="0"/>
          </a:xfrm>
          <a:prstGeom prst="line">
            <a:avLst/>
          </a:prstGeom>
          <a:ln w="1270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100845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D0A313F-6DF8-2482-D877-FFB2ED90AEAB}"/>
              </a:ext>
            </a:extLst>
          </p:cNvPr>
          <p:cNvSpPr/>
          <p:nvPr/>
        </p:nvSpPr>
        <p:spPr>
          <a:xfrm>
            <a:off x="342903" y="857926"/>
            <a:ext cx="6078300" cy="4638306"/>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3" name="Text 1">
            <a:extLst>
              <a:ext uri="{FF2B5EF4-FFF2-40B4-BE49-F238E27FC236}">
                <a16:creationId xmlns:a16="http://schemas.microsoft.com/office/drawing/2014/main" id="{5B0D636E-A026-B0A5-75D4-31E5EADC9465}"/>
              </a:ext>
            </a:extLst>
          </p:cNvPr>
          <p:cNvSpPr/>
          <p:nvPr/>
        </p:nvSpPr>
        <p:spPr>
          <a:xfrm>
            <a:off x="503657" y="73473"/>
            <a:ext cx="8229600" cy="584775"/>
          </a:xfrm>
          <a:prstGeom prst="rect">
            <a:avLst/>
          </a:prstGeom>
          <a:noFill/>
        </p:spPr>
        <p:txBody>
          <a:bodyPr wrap="square" rtlCol="0">
            <a:spAutoFit/>
          </a:bodyPr>
          <a:lstStyle/>
          <a:p>
            <a:r>
              <a:rPr lang="en-US" sz="3200" b="1" dirty="0">
                <a:latin typeface="Lucida Console" panose="020B0609040504020204" pitchFamily="49" charset="0"/>
              </a:rPr>
              <a:t>Struct</a:t>
            </a:r>
          </a:p>
        </p:txBody>
      </p:sp>
      <p:sp>
        <p:nvSpPr>
          <p:cNvPr id="7" name="Text 5">
            <a:extLst>
              <a:ext uri="{FF2B5EF4-FFF2-40B4-BE49-F238E27FC236}">
                <a16:creationId xmlns:a16="http://schemas.microsoft.com/office/drawing/2014/main" id="{1E28FCB2-B728-39CE-2A47-5BAFC9B3BE1A}"/>
              </a:ext>
            </a:extLst>
          </p:cNvPr>
          <p:cNvSpPr/>
          <p:nvPr/>
        </p:nvSpPr>
        <p:spPr>
          <a:xfrm>
            <a:off x="478831" y="1024048"/>
            <a:ext cx="3383280" cy="365760"/>
          </a:xfrm>
          <a:prstGeom prst="rect">
            <a:avLst/>
          </a:prstGeom>
          <a:noFill/>
          <a:ln/>
        </p:spPr>
        <p:txBody>
          <a:bodyPr wrap="square" lIns="0" tIns="0" rIns="0" bIns="0" rtlCol="0" anchor="ctr"/>
          <a:lstStyle/>
          <a:p>
            <a:pPr marL="0" indent="0">
              <a:buNone/>
            </a:pPr>
            <a:r>
              <a:rPr lang="en-US" sz="3200" b="1" dirty="0">
                <a:solidFill>
                  <a:srgbClr val="10B981"/>
                </a:solidFill>
                <a:latin typeface="Calibri" pitchFamily="34" charset="0"/>
                <a:ea typeface="Calibri" pitchFamily="34" charset="-122"/>
                <a:cs typeface="Calibri" pitchFamily="34" charset="-120"/>
              </a:rPr>
              <a:t>What is it?</a:t>
            </a:r>
            <a:endParaRPr lang="en-US" sz="3200" dirty="0"/>
          </a:p>
        </p:txBody>
      </p:sp>
      <p:sp>
        <p:nvSpPr>
          <p:cNvPr id="8" name="Text 6">
            <a:extLst>
              <a:ext uri="{FF2B5EF4-FFF2-40B4-BE49-F238E27FC236}">
                <a16:creationId xmlns:a16="http://schemas.microsoft.com/office/drawing/2014/main" id="{067FD596-0124-C233-F502-0E3FCD946998}"/>
              </a:ext>
            </a:extLst>
          </p:cNvPr>
          <p:cNvSpPr/>
          <p:nvPr/>
        </p:nvSpPr>
        <p:spPr>
          <a:xfrm>
            <a:off x="567539" y="1451368"/>
            <a:ext cx="5718451" cy="2103120"/>
          </a:xfrm>
          <a:prstGeom prst="rect">
            <a:avLst/>
          </a:prstGeom>
          <a:noFill/>
          <a:ln/>
        </p:spPr>
        <p:txBody>
          <a:bodyPr wrap="square" lIns="0" tIns="0" rIns="0" bIns="0" rtlCol="0" anchor="t"/>
          <a:lstStyle/>
          <a:p>
            <a:pPr marL="0" indent="0">
              <a:buNone/>
            </a:pPr>
            <a:r>
              <a:rPr lang="en-US" sz="2000" dirty="0">
                <a:solidFill>
                  <a:srgbClr val="D0D8E8"/>
                </a:solidFill>
                <a:latin typeface="Calibri Light" pitchFamily="34" charset="0"/>
                <a:ea typeface="Calibri Light" pitchFamily="34" charset="-122"/>
                <a:cs typeface="Calibri Light" pitchFamily="34" charset="-120"/>
              </a:rPr>
              <a:t>A struct is similar to a class but members are public by default. </a:t>
            </a:r>
          </a:p>
          <a:p>
            <a:pPr marL="0" indent="0">
              <a:buNone/>
            </a:pPr>
            <a:endParaRPr lang="en-US" sz="2000" dirty="0"/>
          </a:p>
          <a:p>
            <a:pPr marL="0" indent="0">
              <a:buNone/>
            </a:pPr>
            <a:r>
              <a:rPr lang="en-US" sz="2000" dirty="0">
                <a:solidFill>
                  <a:srgbClr val="D0D8E8"/>
                </a:solidFill>
                <a:latin typeface="Calibri Light" pitchFamily="34" charset="0"/>
                <a:ea typeface="Calibri Light" pitchFamily="34" charset="-122"/>
                <a:cs typeface="Calibri Light" pitchFamily="34" charset="-120"/>
              </a:rPr>
              <a:t>In our engine, Vec2 is a struct that holds x and y coordinates. It is used everywhere — position, velocity, direction — shared by all teams.</a:t>
            </a:r>
            <a:endParaRPr lang="en-US" sz="2000" dirty="0"/>
          </a:p>
        </p:txBody>
      </p:sp>
      <p:sp>
        <p:nvSpPr>
          <p:cNvPr id="36" name="Rectangle 35">
            <a:extLst>
              <a:ext uri="{FF2B5EF4-FFF2-40B4-BE49-F238E27FC236}">
                <a16:creationId xmlns:a16="http://schemas.microsoft.com/office/drawing/2014/main" id="{95359E55-6DF8-6C0B-373B-2C3009E7B88A}"/>
              </a:ext>
            </a:extLst>
          </p:cNvPr>
          <p:cNvSpPr/>
          <p:nvPr/>
        </p:nvSpPr>
        <p:spPr>
          <a:xfrm>
            <a:off x="6619875" y="857926"/>
            <a:ext cx="5324472" cy="4638306"/>
          </a:xfrm>
          <a:prstGeom prst="rect">
            <a:avLst/>
          </a:prstGeom>
          <a:solidFill>
            <a:srgbClr val="1A1B28"/>
          </a:solidFill>
          <a:ln w="3810">
            <a:solidFill>
              <a:srgbClr val="FFFFFF">
                <a:alpha val="10000"/>
              </a:srgbClr>
            </a:solidFill>
            <a:prstDash val="solid"/>
          </a:ln>
        </p:spPr>
        <p:txBody>
          <a:bodyPr/>
          <a:lstStyle/>
          <a:p>
            <a:endParaRPr lang="en-US">
              <a:solidFill>
                <a:schemeClr val="tx1"/>
              </a:solidFill>
            </a:endParaRPr>
          </a:p>
        </p:txBody>
      </p:sp>
      <p:pic>
        <p:nvPicPr>
          <p:cNvPr id="38" name="Picture 37" descr="A screen shot of a computer program&#10;&#10;Description automatically generated">
            <a:extLst>
              <a:ext uri="{FF2B5EF4-FFF2-40B4-BE49-F238E27FC236}">
                <a16:creationId xmlns:a16="http://schemas.microsoft.com/office/drawing/2014/main" id="{93D47FD9-2A9C-9F80-6F65-D990D4BBE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4818" y="388208"/>
            <a:ext cx="6131008" cy="5611865"/>
          </a:xfrm>
          <a:prstGeom prst="rect">
            <a:avLst/>
          </a:prstGeom>
        </p:spPr>
      </p:pic>
      <p:cxnSp>
        <p:nvCxnSpPr>
          <p:cNvPr id="42" name="Straight Connector 41">
            <a:extLst>
              <a:ext uri="{FF2B5EF4-FFF2-40B4-BE49-F238E27FC236}">
                <a16:creationId xmlns:a16="http://schemas.microsoft.com/office/drawing/2014/main" id="{0E765EA6-DC82-3BAF-4948-7B623DA08FEE}"/>
              </a:ext>
            </a:extLst>
          </p:cNvPr>
          <p:cNvCxnSpPr>
            <a:cxnSpLocks/>
          </p:cNvCxnSpPr>
          <p:nvPr/>
        </p:nvCxnSpPr>
        <p:spPr>
          <a:xfrm>
            <a:off x="478831" y="119193"/>
            <a:ext cx="0" cy="538032"/>
          </a:xfrm>
          <a:prstGeom prst="line">
            <a:avLst/>
          </a:prstGeom>
          <a:solidFill>
            <a:srgbClr val="10B981"/>
          </a:solidFill>
          <a:ln w="76200">
            <a:solidFill>
              <a:srgbClr val="10B981"/>
            </a:solidFill>
            <a:prstDash val="solid"/>
          </a:ln>
          <a:effectLst/>
        </p:spPr>
      </p:cxnSp>
      <p:graphicFrame>
        <p:nvGraphicFramePr>
          <p:cNvPr id="45" name="Table 44">
            <a:extLst>
              <a:ext uri="{FF2B5EF4-FFF2-40B4-BE49-F238E27FC236}">
                <a16:creationId xmlns:a16="http://schemas.microsoft.com/office/drawing/2014/main" id="{A59DC99A-F23F-ECE9-6774-451E0F9E734E}"/>
              </a:ext>
            </a:extLst>
          </p:cNvPr>
          <p:cNvGraphicFramePr>
            <a:graphicFrameLocks noGrp="1"/>
          </p:cNvGraphicFramePr>
          <p:nvPr>
            <p:extLst>
              <p:ext uri="{D42A27DB-BD31-4B8C-83A1-F6EECF244321}">
                <p14:modId xmlns:p14="http://schemas.microsoft.com/office/powerpoint/2010/main" val="2515135464"/>
              </p:ext>
            </p:extLst>
          </p:nvPr>
        </p:nvGraphicFramePr>
        <p:xfrm>
          <a:off x="573414" y="3429000"/>
          <a:ext cx="5617278" cy="1977632"/>
        </p:xfrm>
        <a:graphic>
          <a:graphicData uri="http://schemas.openxmlformats.org/drawingml/2006/table">
            <a:tbl>
              <a:tblPr firstRow="1" bandRow="1">
                <a:tableStyleId>{2D5ABB26-0587-4C30-8999-92F81FD0307C}</a:tableStyleId>
              </a:tblPr>
              <a:tblGrid>
                <a:gridCol w="1862116">
                  <a:extLst>
                    <a:ext uri="{9D8B030D-6E8A-4147-A177-3AD203B41FA5}">
                      <a16:colId xmlns:a16="http://schemas.microsoft.com/office/drawing/2014/main" val="677124719"/>
                    </a:ext>
                  </a:extLst>
                </a:gridCol>
                <a:gridCol w="1877581">
                  <a:extLst>
                    <a:ext uri="{9D8B030D-6E8A-4147-A177-3AD203B41FA5}">
                      <a16:colId xmlns:a16="http://schemas.microsoft.com/office/drawing/2014/main" val="452222772"/>
                    </a:ext>
                  </a:extLst>
                </a:gridCol>
                <a:gridCol w="1877581">
                  <a:extLst>
                    <a:ext uri="{9D8B030D-6E8A-4147-A177-3AD203B41FA5}">
                      <a16:colId xmlns:a16="http://schemas.microsoft.com/office/drawing/2014/main" val="3139978704"/>
                    </a:ext>
                  </a:extLst>
                </a:gridCol>
              </a:tblGrid>
              <a:tr h="494408">
                <a:tc>
                  <a:txBody>
                    <a:bodyPr/>
                    <a:lstStyle/>
                    <a:p>
                      <a:pPr algn="ctr"/>
                      <a:endParaRPr lang="en-US" dirty="0"/>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tcPr>
                </a:tc>
                <a:tc>
                  <a:txBody>
                    <a:bodyPr/>
                    <a:lstStyle/>
                    <a:p>
                      <a:pPr algn="ctr"/>
                      <a:r>
                        <a:rPr lang="en-US" dirty="0"/>
                        <a:t>Class</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tcPr>
                </a:tc>
                <a:tc>
                  <a:txBody>
                    <a:bodyPr/>
                    <a:lstStyle/>
                    <a:p>
                      <a:pPr algn="ctr"/>
                      <a:r>
                        <a:rPr lang="en-US" dirty="0"/>
                        <a:t>Struct</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tcPr>
                </a:tc>
                <a:extLst>
                  <a:ext uri="{0D108BD9-81ED-4DB2-BD59-A6C34878D82A}">
                    <a16:rowId xmlns:a16="http://schemas.microsoft.com/office/drawing/2014/main" val="1582028174"/>
                  </a:ext>
                </a:extLst>
              </a:tr>
              <a:tr h="494408">
                <a:tc>
                  <a:txBody>
                    <a:bodyPr/>
                    <a:lstStyle/>
                    <a:p>
                      <a:pPr algn="ctr"/>
                      <a:r>
                        <a:rPr lang="en-US" dirty="0"/>
                        <a:t>Members</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chemeClr val="bg2"/>
                    </a:solidFill>
                  </a:tcPr>
                </a:tc>
                <a:tc>
                  <a:txBody>
                    <a:bodyPr/>
                    <a:lstStyle/>
                    <a:p>
                      <a:pPr algn="ctr"/>
                      <a:r>
                        <a:rPr lang="en-US" dirty="0"/>
                        <a:t>Private</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chemeClr val="bg2"/>
                    </a:solidFill>
                  </a:tcPr>
                </a:tc>
                <a:tc>
                  <a:txBody>
                    <a:bodyPr/>
                    <a:lstStyle/>
                    <a:p>
                      <a:pPr algn="ctr"/>
                      <a:r>
                        <a:rPr lang="en-US" dirty="0"/>
                        <a:t>Public</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chemeClr val="bg2"/>
                    </a:solidFill>
                  </a:tcPr>
                </a:tc>
                <a:extLst>
                  <a:ext uri="{0D108BD9-81ED-4DB2-BD59-A6C34878D82A}">
                    <a16:rowId xmlns:a16="http://schemas.microsoft.com/office/drawing/2014/main" val="1036833521"/>
                  </a:ext>
                </a:extLst>
              </a:tr>
              <a:tr h="494408">
                <a:tc>
                  <a:txBody>
                    <a:bodyPr/>
                    <a:lstStyle/>
                    <a:p>
                      <a:pPr algn="ctr"/>
                      <a:r>
                        <a:rPr lang="en-US" dirty="0"/>
                        <a:t>Usage </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tcPr>
                </a:tc>
                <a:tc>
                  <a:txBody>
                    <a:bodyPr/>
                    <a:lstStyle/>
                    <a:p>
                      <a:pPr algn="ctr"/>
                      <a:r>
                        <a:rPr lang="en-US" dirty="0"/>
                        <a:t>Complex logic</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tcPr>
                </a:tc>
                <a:tc>
                  <a:txBody>
                    <a:bodyPr/>
                    <a:lstStyle/>
                    <a:p>
                      <a:pPr algn="ctr"/>
                      <a:r>
                        <a:rPr lang="en-US" dirty="0"/>
                        <a:t>Data Only</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tcPr>
                </a:tc>
                <a:extLst>
                  <a:ext uri="{0D108BD9-81ED-4DB2-BD59-A6C34878D82A}">
                    <a16:rowId xmlns:a16="http://schemas.microsoft.com/office/drawing/2014/main" val="1360634112"/>
                  </a:ext>
                </a:extLst>
              </a:tr>
              <a:tr h="494408">
                <a:tc>
                  <a:txBody>
                    <a:bodyPr/>
                    <a:lstStyle/>
                    <a:p>
                      <a:pPr marL="0" algn="ctr" defTabSz="914400" rtl="0" eaLnBrk="1" latinLnBrk="0" hangingPunct="1"/>
                      <a:r>
                        <a:rPr lang="en-US" sz="1800" kern="1200" dirty="0">
                          <a:solidFill>
                            <a:schemeClr val="tx1"/>
                          </a:solidFill>
                          <a:latin typeface="+mn-lt"/>
                          <a:ea typeface="+mn-ea"/>
                          <a:cs typeface="+mn-cs"/>
                        </a:rPr>
                        <a:t>Our Engine</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chemeClr val="bg2"/>
                    </a:solidFill>
                  </a:tcPr>
                </a:tc>
                <a:tc>
                  <a:txBody>
                    <a:bodyPr/>
                    <a:lstStyle/>
                    <a:p>
                      <a:pPr marL="0" algn="ctr" defTabSz="914400" rtl="0" eaLnBrk="1" latinLnBrk="0" hangingPunct="1"/>
                      <a:r>
                        <a:rPr lang="en-US" sz="1800" kern="1200" dirty="0">
                          <a:solidFill>
                            <a:schemeClr val="tx1"/>
                          </a:solidFill>
                          <a:latin typeface="+mn-lt"/>
                          <a:ea typeface="+mn-ea"/>
                          <a:cs typeface="+mn-cs"/>
                        </a:rPr>
                        <a:t>Entity, Engine,…</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chemeClr val="bg2"/>
                    </a:solidFill>
                  </a:tcPr>
                </a:tc>
                <a:tc>
                  <a:txBody>
                    <a:bodyPr/>
                    <a:lstStyle/>
                    <a:p>
                      <a:pPr algn="ctr"/>
                      <a:r>
                        <a:rPr lang="en-US" dirty="0"/>
                        <a:t>Vec2</a:t>
                      </a:r>
                    </a:p>
                  </a:txBody>
                  <a:tcPr>
                    <a:lnL w="3175" cap="flat" cmpd="sng" algn="ctr">
                      <a:solidFill>
                        <a:schemeClr val="tx1"/>
                      </a:solidFill>
                      <a:prstDash val="lgDashDot"/>
                      <a:round/>
                      <a:headEnd type="none" w="med" len="med"/>
                      <a:tailEnd type="none" w="med" len="med"/>
                    </a:lnL>
                    <a:lnR w="3175" cap="flat" cmpd="sng" algn="ctr">
                      <a:solidFill>
                        <a:schemeClr val="tx1"/>
                      </a:solidFill>
                      <a:prstDash val="lgDashDot"/>
                      <a:round/>
                      <a:headEnd type="none" w="med" len="med"/>
                      <a:tailEnd type="none" w="med" len="med"/>
                    </a:lnR>
                    <a:lnT w="3175" cap="flat" cmpd="sng" algn="ctr">
                      <a:solidFill>
                        <a:schemeClr val="tx1"/>
                      </a:solidFill>
                      <a:prstDash val="lgDashDot"/>
                      <a:round/>
                      <a:headEnd type="none" w="med" len="med"/>
                      <a:tailEnd type="none" w="med" len="med"/>
                    </a:lnT>
                    <a:lnB w="3175" cap="flat" cmpd="sng" algn="ctr">
                      <a:solidFill>
                        <a:schemeClr val="tx1"/>
                      </a:solidFill>
                      <a:prstDash val="lgDashDot"/>
                      <a:round/>
                      <a:headEnd type="none" w="med" len="med"/>
                      <a:tailEnd type="none" w="med" len="med"/>
                    </a:lnB>
                    <a:solidFill>
                      <a:schemeClr val="bg2"/>
                    </a:solidFill>
                  </a:tcPr>
                </a:tc>
                <a:extLst>
                  <a:ext uri="{0D108BD9-81ED-4DB2-BD59-A6C34878D82A}">
                    <a16:rowId xmlns:a16="http://schemas.microsoft.com/office/drawing/2014/main" val="2890657451"/>
                  </a:ext>
                </a:extLst>
              </a:tr>
            </a:tbl>
          </a:graphicData>
        </a:graphic>
      </p:graphicFrame>
      <p:sp>
        <p:nvSpPr>
          <p:cNvPr id="47" name="Rectangle 46">
            <a:extLst>
              <a:ext uri="{FF2B5EF4-FFF2-40B4-BE49-F238E27FC236}">
                <a16:creationId xmlns:a16="http://schemas.microsoft.com/office/drawing/2014/main" id="{9EFB821B-C139-02C5-702F-8628B3C309B4}"/>
              </a:ext>
            </a:extLst>
          </p:cNvPr>
          <p:cNvSpPr/>
          <p:nvPr/>
        </p:nvSpPr>
        <p:spPr>
          <a:xfrm>
            <a:off x="478832" y="5699688"/>
            <a:ext cx="10246318" cy="1000125"/>
          </a:xfrm>
          <a:prstGeom prst="rect">
            <a:avLst/>
          </a:prstGeom>
          <a:gradFill flip="none" rotWithShape="1">
            <a:gsLst>
              <a:gs pos="0">
                <a:schemeClr val="accent6">
                  <a:lumMod val="20000"/>
                  <a:lumOff val="80000"/>
                  <a:alpha val="70000"/>
                </a:schemeClr>
              </a:gs>
              <a:gs pos="97000">
                <a:schemeClr val="bg1"/>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7A98BC37-C6D2-36BB-84EE-C8E4DF23658B}"/>
              </a:ext>
            </a:extLst>
          </p:cNvPr>
          <p:cNvCxnSpPr>
            <a:cxnSpLocks/>
          </p:cNvCxnSpPr>
          <p:nvPr/>
        </p:nvCxnSpPr>
        <p:spPr>
          <a:xfrm>
            <a:off x="498068" y="5699689"/>
            <a:ext cx="0" cy="1000124"/>
          </a:xfrm>
          <a:prstGeom prst="line">
            <a:avLst/>
          </a:prstGeom>
          <a:solidFill>
            <a:srgbClr val="10B981"/>
          </a:solidFill>
          <a:ln w="76200">
            <a:solidFill>
              <a:srgbClr val="10B981"/>
            </a:solidFill>
            <a:prstDash val="solid"/>
          </a:ln>
          <a:effectLst/>
        </p:spPr>
      </p:cxnSp>
      <p:sp>
        <p:nvSpPr>
          <p:cNvPr id="46" name="TextBox 45">
            <a:extLst>
              <a:ext uri="{FF2B5EF4-FFF2-40B4-BE49-F238E27FC236}">
                <a16:creationId xmlns:a16="http://schemas.microsoft.com/office/drawing/2014/main" id="{8250B752-7A32-2E12-C58F-D7B5224277CC}"/>
              </a:ext>
            </a:extLst>
          </p:cNvPr>
          <p:cNvSpPr txBox="1"/>
          <p:nvPr/>
        </p:nvSpPr>
        <p:spPr>
          <a:xfrm>
            <a:off x="599705" y="5876584"/>
            <a:ext cx="9829800" cy="646331"/>
          </a:xfrm>
          <a:prstGeom prst="rect">
            <a:avLst/>
          </a:prstGeom>
          <a:noFill/>
          <a:ln>
            <a:noFill/>
          </a:ln>
        </p:spPr>
        <p:txBody>
          <a:bodyPr wrap="square" rtlCol="0">
            <a:spAutoFit/>
          </a:bodyPr>
          <a:lstStyle/>
          <a:p>
            <a:r>
              <a:rPr lang="en-US" b="1" dirty="0">
                <a:solidFill>
                  <a:schemeClr val="tx2"/>
                </a:solidFill>
              </a:rPr>
              <a:t>Why Struct and not Class?</a:t>
            </a:r>
            <a:r>
              <a:rPr lang="en-US" dirty="0">
                <a:solidFill>
                  <a:schemeClr val="tx2"/>
                </a:solidFill>
              </a:rPr>
              <a:t> Vec2 only holds two integers with no logic or access restrictions needed — a struct keeps it simple, lightweight, and directly accessible by all teams.</a:t>
            </a:r>
          </a:p>
        </p:txBody>
      </p:sp>
    </p:spTree>
    <p:extLst>
      <p:ext uri="{BB962C8B-B14F-4D97-AF65-F5344CB8AC3E}">
        <p14:creationId xmlns:p14="http://schemas.microsoft.com/office/powerpoint/2010/main" val="143332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93197C1-35B4-C10F-8499-A7E3A0144FE6}"/>
              </a:ext>
            </a:extLst>
          </p:cNvPr>
          <p:cNvSpPr/>
          <p:nvPr/>
        </p:nvSpPr>
        <p:spPr>
          <a:xfrm>
            <a:off x="6019524" y="1021842"/>
            <a:ext cx="5623836" cy="5169408"/>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3" name="Text 1">
            <a:extLst>
              <a:ext uri="{FF2B5EF4-FFF2-40B4-BE49-F238E27FC236}">
                <a16:creationId xmlns:a16="http://schemas.microsoft.com/office/drawing/2014/main" id="{1D0ACAC1-D07E-6DB4-C5B7-855F8D81B6C0}"/>
              </a:ext>
            </a:extLst>
          </p:cNvPr>
          <p:cNvSpPr/>
          <p:nvPr/>
        </p:nvSpPr>
        <p:spPr>
          <a:xfrm>
            <a:off x="584964" y="158853"/>
            <a:ext cx="8229600" cy="685800"/>
          </a:xfrm>
          <a:prstGeom prst="rect">
            <a:avLst/>
          </a:prstGeom>
          <a:noFill/>
          <a:ln/>
        </p:spPr>
        <p:txBody>
          <a:bodyPr wrap="square" lIns="0" tIns="0" rIns="0" bIns="0" rtlCol="0" anchor="ctr"/>
          <a:lstStyle/>
          <a:p>
            <a:pPr marL="0" indent="0">
              <a:buNone/>
            </a:pPr>
            <a:r>
              <a:rPr lang="en-US" sz="3200" b="1" dirty="0">
                <a:latin typeface="Lucida Console" panose="020B0609040504020204" pitchFamily="49" charset="0"/>
              </a:rPr>
              <a:t>Classes</a:t>
            </a:r>
          </a:p>
        </p:txBody>
      </p:sp>
      <p:sp>
        <p:nvSpPr>
          <p:cNvPr id="6" name="Shape 4">
            <a:extLst>
              <a:ext uri="{FF2B5EF4-FFF2-40B4-BE49-F238E27FC236}">
                <a16:creationId xmlns:a16="http://schemas.microsoft.com/office/drawing/2014/main" id="{26DD70BE-4465-068B-8D32-7978A11842AF}"/>
              </a:ext>
            </a:extLst>
          </p:cNvPr>
          <p:cNvSpPr/>
          <p:nvPr/>
        </p:nvSpPr>
        <p:spPr>
          <a:xfrm>
            <a:off x="361140" y="1021843"/>
            <a:ext cx="5525643" cy="5169407"/>
          </a:xfrm>
          <a:prstGeom prst="rect">
            <a:avLst/>
          </a:prstGeom>
          <a:solidFill>
            <a:srgbClr val="1A1B28"/>
          </a:solidFill>
          <a:ln w="3810">
            <a:solidFill>
              <a:srgbClr val="FFFFFF">
                <a:alpha val="10000"/>
              </a:srgbClr>
            </a:solidFill>
            <a:prstDash val="solid"/>
          </a:ln>
        </p:spPr>
        <p:txBody>
          <a:bodyPr/>
          <a:lstStyle/>
          <a:p>
            <a:endParaRPr lang="en-US" dirty="0"/>
          </a:p>
        </p:txBody>
      </p:sp>
      <p:sp>
        <p:nvSpPr>
          <p:cNvPr id="7" name="Text 5">
            <a:extLst>
              <a:ext uri="{FF2B5EF4-FFF2-40B4-BE49-F238E27FC236}">
                <a16:creationId xmlns:a16="http://schemas.microsoft.com/office/drawing/2014/main" id="{119D8002-96A5-8BED-A56A-850D780CEE9C}"/>
              </a:ext>
            </a:extLst>
          </p:cNvPr>
          <p:cNvSpPr/>
          <p:nvPr/>
        </p:nvSpPr>
        <p:spPr>
          <a:xfrm>
            <a:off x="436811" y="1133856"/>
            <a:ext cx="3383280" cy="347472"/>
          </a:xfrm>
          <a:prstGeom prst="rect">
            <a:avLst/>
          </a:prstGeom>
          <a:noFill/>
          <a:ln/>
        </p:spPr>
        <p:txBody>
          <a:bodyPr wrap="square" lIns="0" tIns="0" rIns="0" bIns="0" rtlCol="0" anchor="ctr"/>
          <a:lstStyle/>
          <a:p>
            <a:pPr marL="0" indent="0">
              <a:buNone/>
            </a:pPr>
            <a:r>
              <a:rPr lang="en-US" sz="3200" b="1" dirty="0">
                <a:solidFill>
                  <a:srgbClr val="AA81CA"/>
                </a:solidFill>
                <a:latin typeface="Calibri" pitchFamily="34" charset="0"/>
                <a:ea typeface="Calibri" pitchFamily="34" charset="-122"/>
                <a:cs typeface="Calibri" pitchFamily="34" charset="-120"/>
              </a:rPr>
              <a:t>What is it?</a:t>
            </a:r>
            <a:endParaRPr lang="en-US" sz="3200" dirty="0">
              <a:solidFill>
                <a:srgbClr val="AA81CA"/>
              </a:solidFill>
            </a:endParaRPr>
          </a:p>
        </p:txBody>
      </p:sp>
      <p:sp>
        <p:nvSpPr>
          <p:cNvPr id="8" name="Text 6">
            <a:extLst>
              <a:ext uri="{FF2B5EF4-FFF2-40B4-BE49-F238E27FC236}">
                <a16:creationId xmlns:a16="http://schemas.microsoft.com/office/drawing/2014/main" id="{859CDD9D-59EB-6C1B-5E5C-4904220FCF52}"/>
              </a:ext>
            </a:extLst>
          </p:cNvPr>
          <p:cNvSpPr/>
          <p:nvPr/>
        </p:nvSpPr>
        <p:spPr>
          <a:xfrm>
            <a:off x="548640" y="1611822"/>
            <a:ext cx="5132355" cy="777240"/>
          </a:xfrm>
          <a:prstGeom prst="rect">
            <a:avLst/>
          </a:prstGeom>
          <a:noFill/>
          <a:ln/>
        </p:spPr>
        <p:txBody>
          <a:bodyPr wrap="square" lIns="0" tIns="0" rIns="0" bIns="0" rtlCol="0" anchor="t"/>
          <a:lstStyle/>
          <a:p>
            <a:pPr marL="0" indent="0">
              <a:buNone/>
            </a:pPr>
            <a:r>
              <a:rPr lang="en-US" sz="2000" dirty="0">
                <a:solidFill>
                  <a:srgbClr val="D0D8E8"/>
                </a:solidFill>
                <a:latin typeface="Calibri Light" pitchFamily="34" charset="0"/>
                <a:ea typeface="Calibri Light" pitchFamily="34" charset="-122"/>
                <a:cs typeface="Calibri Light" pitchFamily="34" charset="-120"/>
              </a:rPr>
              <a:t>A class is a blueprint that bundles data and behavior into one unit. Our engine is built from classes each with a clear responsibility:</a:t>
            </a:r>
            <a:endParaRPr lang="en-US" sz="2000" dirty="0"/>
          </a:p>
        </p:txBody>
      </p:sp>
      <p:sp>
        <p:nvSpPr>
          <p:cNvPr id="10" name="Text 8">
            <a:extLst>
              <a:ext uri="{FF2B5EF4-FFF2-40B4-BE49-F238E27FC236}">
                <a16:creationId xmlns:a16="http://schemas.microsoft.com/office/drawing/2014/main" id="{0C52A528-3ED6-B3A1-F843-C21B9192DE6D}"/>
              </a:ext>
            </a:extLst>
          </p:cNvPr>
          <p:cNvSpPr/>
          <p:nvPr/>
        </p:nvSpPr>
        <p:spPr>
          <a:xfrm>
            <a:off x="825521" y="2986259"/>
            <a:ext cx="1371600" cy="292608"/>
          </a:xfrm>
          <a:prstGeom prst="rect">
            <a:avLst/>
          </a:prstGeom>
          <a:noFill/>
          <a:ln/>
        </p:spPr>
        <p:txBody>
          <a:bodyPr wrap="square" lIns="0" tIns="0" rIns="0" bIns="0" rtlCol="0" anchor="ctr"/>
          <a:lstStyle/>
          <a:p>
            <a:pPr marL="0" indent="0">
              <a:buNone/>
            </a:pPr>
            <a:r>
              <a:rPr lang="en-US" sz="2000" b="1" dirty="0">
                <a:solidFill>
                  <a:srgbClr val="AA81CA"/>
                </a:solidFill>
                <a:latin typeface="Consolas" pitchFamily="34" charset="0"/>
                <a:ea typeface="Consolas" pitchFamily="34" charset="-122"/>
                <a:cs typeface="Consolas" pitchFamily="34" charset="-120"/>
              </a:rPr>
              <a:t>Engine</a:t>
            </a:r>
            <a:endParaRPr lang="en-US" sz="2000" dirty="0">
              <a:solidFill>
                <a:srgbClr val="AA81CA"/>
              </a:solidFill>
            </a:endParaRPr>
          </a:p>
        </p:txBody>
      </p:sp>
      <p:sp>
        <p:nvSpPr>
          <p:cNvPr id="11" name="Text 9">
            <a:extLst>
              <a:ext uri="{FF2B5EF4-FFF2-40B4-BE49-F238E27FC236}">
                <a16:creationId xmlns:a16="http://schemas.microsoft.com/office/drawing/2014/main" id="{B06783ED-72E0-B7D1-A03D-61F7D099F860}"/>
              </a:ext>
            </a:extLst>
          </p:cNvPr>
          <p:cNvSpPr/>
          <p:nvPr/>
        </p:nvSpPr>
        <p:spPr>
          <a:xfrm>
            <a:off x="2856653" y="2932163"/>
            <a:ext cx="3239347" cy="384048"/>
          </a:xfrm>
          <a:prstGeom prst="rect">
            <a:avLst/>
          </a:prstGeom>
          <a:noFill/>
          <a:ln/>
        </p:spPr>
        <p:txBody>
          <a:bodyPr wrap="square" lIns="0" tIns="0" rIns="0" bIns="0" rtlCol="0" anchor="ctr"/>
          <a:lstStyle/>
          <a:p>
            <a:pPr marL="0" indent="0">
              <a:buNone/>
            </a:pPr>
            <a:r>
              <a:rPr lang="en-US" dirty="0">
                <a:solidFill>
                  <a:srgbClr val="7A8599"/>
                </a:solidFill>
                <a:latin typeface="Calibri Light" pitchFamily="34" charset="0"/>
                <a:ea typeface="Calibri Light" pitchFamily="34" charset="-122"/>
                <a:cs typeface="Calibri Light" pitchFamily="34" charset="-120"/>
              </a:rPr>
              <a:t>Singleton — master game loop</a:t>
            </a:r>
            <a:endParaRPr lang="en-US" dirty="0"/>
          </a:p>
        </p:txBody>
      </p:sp>
      <p:sp>
        <p:nvSpPr>
          <p:cNvPr id="13" name="Text 11">
            <a:extLst>
              <a:ext uri="{FF2B5EF4-FFF2-40B4-BE49-F238E27FC236}">
                <a16:creationId xmlns:a16="http://schemas.microsoft.com/office/drawing/2014/main" id="{15FA022E-92D9-20FB-9AC9-DE618E627AC0}"/>
              </a:ext>
            </a:extLst>
          </p:cNvPr>
          <p:cNvSpPr/>
          <p:nvPr/>
        </p:nvSpPr>
        <p:spPr>
          <a:xfrm>
            <a:off x="800114" y="3444994"/>
            <a:ext cx="1371600" cy="292608"/>
          </a:xfrm>
          <a:prstGeom prst="rect">
            <a:avLst/>
          </a:prstGeom>
          <a:noFill/>
          <a:ln/>
        </p:spPr>
        <p:txBody>
          <a:bodyPr wrap="square" lIns="0" tIns="0" rIns="0" bIns="0" rtlCol="0" anchor="ctr"/>
          <a:lstStyle/>
          <a:p>
            <a:r>
              <a:rPr lang="en-US" sz="2000" b="1" dirty="0">
                <a:solidFill>
                  <a:srgbClr val="AA81CA"/>
                </a:solidFill>
                <a:latin typeface="Consolas" pitchFamily="34" charset="0"/>
              </a:rPr>
              <a:t>Entity</a:t>
            </a:r>
          </a:p>
        </p:txBody>
      </p:sp>
      <p:sp>
        <p:nvSpPr>
          <p:cNvPr id="14" name="Text 12">
            <a:extLst>
              <a:ext uri="{FF2B5EF4-FFF2-40B4-BE49-F238E27FC236}">
                <a16:creationId xmlns:a16="http://schemas.microsoft.com/office/drawing/2014/main" id="{7BE5150C-3BC4-4C4F-D525-99826D912702}"/>
              </a:ext>
            </a:extLst>
          </p:cNvPr>
          <p:cNvSpPr/>
          <p:nvPr/>
        </p:nvSpPr>
        <p:spPr>
          <a:xfrm>
            <a:off x="2856654" y="3419332"/>
            <a:ext cx="3239346" cy="384048"/>
          </a:xfrm>
          <a:prstGeom prst="rect">
            <a:avLst/>
          </a:prstGeom>
          <a:noFill/>
          <a:ln/>
        </p:spPr>
        <p:txBody>
          <a:bodyPr wrap="square" lIns="0" tIns="0" rIns="0" bIns="0" rtlCol="0" anchor="ctr"/>
          <a:lstStyle/>
          <a:p>
            <a:r>
              <a:rPr lang="en-US" dirty="0">
                <a:solidFill>
                  <a:srgbClr val="7A8599"/>
                </a:solidFill>
                <a:latin typeface="Calibri Light" pitchFamily="34" charset="0"/>
                <a:ea typeface="Calibri Light" pitchFamily="34" charset="-122"/>
                <a:cs typeface="Calibri Light" pitchFamily="34" charset="-120"/>
              </a:rPr>
              <a:t>Base object — all game entities</a:t>
            </a:r>
          </a:p>
        </p:txBody>
      </p:sp>
      <p:sp>
        <p:nvSpPr>
          <p:cNvPr id="16" name="Text 14">
            <a:extLst>
              <a:ext uri="{FF2B5EF4-FFF2-40B4-BE49-F238E27FC236}">
                <a16:creationId xmlns:a16="http://schemas.microsoft.com/office/drawing/2014/main" id="{A454625B-ADE9-8D41-A11A-EF6EE471B2DA}"/>
              </a:ext>
            </a:extLst>
          </p:cNvPr>
          <p:cNvSpPr/>
          <p:nvPr/>
        </p:nvSpPr>
        <p:spPr>
          <a:xfrm>
            <a:off x="800114" y="3886904"/>
            <a:ext cx="1898829" cy="384048"/>
          </a:xfrm>
          <a:prstGeom prst="rect">
            <a:avLst/>
          </a:prstGeom>
          <a:noFill/>
          <a:ln/>
        </p:spPr>
        <p:txBody>
          <a:bodyPr wrap="square" lIns="0" tIns="0" rIns="0" bIns="0" rtlCol="0" anchor="ctr"/>
          <a:lstStyle/>
          <a:p>
            <a:r>
              <a:rPr lang="en-US" sz="2000" b="1" dirty="0">
                <a:solidFill>
                  <a:srgbClr val="AA81CA"/>
                </a:solidFill>
                <a:latin typeface="Consolas" pitchFamily="34" charset="0"/>
              </a:rPr>
              <a:t>EntityManager</a:t>
            </a:r>
          </a:p>
        </p:txBody>
      </p:sp>
      <p:sp>
        <p:nvSpPr>
          <p:cNvPr id="17" name="Text 15">
            <a:extLst>
              <a:ext uri="{FF2B5EF4-FFF2-40B4-BE49-F238E27FC236}">
                <a16:creationId xmlns:a16="http://schemas.microsoft.com/office/drawing/2014/main" id="{6C6CCDC0-2DAB-D728-6A32-992CE2B4D1E5}"/>
              </a:ext>
            </a:extLst>
          </p:cNvPr>
          <p:cNvSpPr/>
          <p:nvPr/>
        </p:nvSpPr>
        <p:spPr>
          <a:xfrm>
            <a:off x="2879643" y="3936055"/>
            <a:ext cx="2487723" cy="280033"/>
          </a:xfrm>
          <a:prstGeom prst="rect">
            <a:avLst/>
          </a:prstGeom>
          <a:noFill/>
          <a:ln/>
        </p:spPr>
        <p:txBody>
          <a:bodyPr wrap="square" lIns="0" tIns="0" rIns="0" bIns="0" rtlCol="0" anchor="ctr"/>
          <a:lstStyle/>
          <a:p>
            <a:pPr marL="0" indent="0">
              <a:buNone/>
            </a:pPr>
            <a:r>
              <a:rPr lang="en-US" dirty="0">
                <a:solidFill>
                  <a:srgbClr val="7A8599"/>
                </a:solidFill>
                <a:latin typeface="Calibri Light" pitchFamily="34" charset="0"/>
                <a:ea typeface="Calibri Light" pitchFamily="34" charset="-122"/>
                <a:cs typeface="Calibri Light" pitchFamily="34" charset="-120"/>
              </a:rPr>
              <a:t>Manages entity lifecycle</a:t>
            </a:r>
            <a:endParaRPr lang="en-US" dirty="0"/>
          </a:p>
        </p:txBody>
      </p:sp>
      <p:sp>
        <p:nvSpPr>
          <p:cNvPr id="19" name="Text 17">
            <a:extLst>
              <a:ext uri="{FF2B5EF4-FFF2-40B4-BE49-F238E27FC236}">
                <a16:creationId xmlns:a16="http://schemas.microsoft.com/office/drawing/2014/main" id="{3144AF59-0C36-63E6-949B-E50AC1BE75DC}"/>
              </a:ext>
            </a:extLst>
          </p:cNvPr>
          <p:cNvSpPr/>
          <p:nvPr/>
        </p:nvSpPr>
        <p:spPr>
          <a:xfrm>
            <a:off x="800114" y="4359090"/>
            <a:ext cx="1890828" cy="475488"/>
          </a:xfrm>
          <a:prstGeom prst="rect">
            <a:avLst/>
          </a:prstGeom>
          <a:noFill/>
          <a:ln/>
        </p:spPr>
        <p:txBody>
          <a:bodyPr wrap="square" lIns="0" tIns="0" rIns="0" bIns="0" rtlCol="0" anchor="ctr"/>
          <a:lstStyle/>
          <a:p>
            <a:r>
              <a:rPr lang="en-US" sz="2000" b="1" dirty="0">
                <a:solidFill>
                  <a:srgbClr val="AA81CA"/>
                </a:solidFill>
                <a:latin typeface="Consolas" pitchFamily="34" charset="0"/>
              </a:rPr>
              <a:t>PhysicsEngine</a:t>
            </a:r>
          </a:p>
        </p:txBody>
      </p:sp>
      <p:sp>
        <p:nvSpPr>
          <p:cNvPr id="20" name="Text 18">
            <a:extLst>
              <a:ext uri="{FF2B5EF4-FFF2-40B4-BE49-F238E27FC236}">
                <a16:creationId xmlns:a16="http://schemas.microsoft.com/office/drawing/2014/main" id="{CE33FBE9-73AB-3222-5E5A-AB9DE9083A6D}"/>
              </a:ext>
            </a:extLst>
          </p:cNvPr>
          <p:cNvSpPr/>
          <p:nvPr/>
        </p:nvSpPr>
        <p:spPr>
          <a:xfrm>
            <a:off x="2856653" y="4370201"/>
            <a:ext cx="3002807" cy="453875"/>
          </a:xfrm>
          <a:prstGeom prst="rect">
            <a:avLst/>
          </a:prstGeom>
          <a:noFill/>
          <a:ln/>
        </p:spPr>
        <p:txBody>
          <a:bodyPr wrap="square" lIns="0" tIns="0" rIns="0" bIns="0" rtlCol="0" anchor="ctr"/>
          <a:lstStyle/>
          <a:p>
            <a:r>
              <a:rPr lang="en-US" dirty="0">
                <a:solidFill>
                  <a:srgbClr val="7A8599"/>
                </a:solidFill>
                <a:latin typeface="Calibri Light" pitchFamily="34" charset="0"/>
                <a:ea typeface="Calibri Light" pitchFamily="34" charset="-122"/>
                <a:cs typeface="Calibri Light" pitchFamily="34" charset="-120"/>
              </a:rPr>
              <a:t>Collision detection &amp; positions</a:t>
            </a:r>
          </a:p>
        </p:txBody>
      </p:sp>
      <p:sp>
        <p:nvSpPr>
          <p:cNvPr id="22" name="Text 20">
            <a:extLst>
              <a:ext uri="{FF2B5EF4-FFF2-40B4-BE49-F238E27FC236}">
                <a16:creationId xmlns:a16="http://schemas.microsoft.com/office/drawing/2014/main" id="{67718FE5-95A9-65AC-17A6-270E44BCE215}"/>
              </a:ext>
            </a:extLst>
          </p:cNvPr>
          <p:cNvSpPr/>
          <p:nvPr/>
        </p:nvSpPr>
        <p:spPr>
          <a:xfrm>
            <a:off x="805993" y="4944213"/>
            <a:ext cx="1729505" cy="384048"/>
          </a:xfrm>
          <a:prstGeom prst="rect">
            <a:avLst/>
          </a:prstGeom>
          <a:noFill/>
          <a:ln/>
        </p:spPr>
        <p:txBody>
          <a:bodyPr wrap="square" lIns="0" tIns="0" rIns="0" bIns="0" rtlCol="0" anchor="ctr"/>
          <a:lstStyle/>
          <a:p>
            <a:r>
              <a:rPr lang="en-US" sz="2000" b="1" dirty="0">
                <a:solidFill>
                  <a:srgbClr val="AA81CA"/>
                </a:solidFill>
                <a:latin typeface="Consolas" pitchFamily="34" charset="0"/>
              </a:rPr>
              <a:t>EventManager</a:t>
            </a:r>
          </a:p>
        </p:txBody>
      </p:sp>
      <p:sp>
        <p:nvSpPr>
          <p:cNvPr id="23" name="Text 21">
            <a:extLst>
              <a:ext uri="{FF2B5EF4-FFF2-40B4-BE49-F238E27FC236}">
                <a16:creationId xmlns:a16="http://schemas.microsoft.com/office/drawing/2014/main" id="{61DFEF3B-6EFF-5FA9-AC88-057424CF2783}"/>
              </a:ext>
            </a:extLst>
          </p:cNvPr>
          <p:cNvSpPr/>
          <p:nvPr/>
        </p:nvSpPr>
        <p:spPr>
          <a:xfrm>
            <a:off x="2856653" y="5036324"/>
            <a:ext cx="2883621" cy="265513"/>
          </a:xfrm>
          <a:prstGeom prst="rect">
            <a:avLst/>
          </a:prstGeom>
          <a:noFill/>
          <a:ln/>
        </p:spPr>
        <p:txBody>
          <a:bodyPr wrap="square" lIns="0" tIns="0" rIns="0" bIns="0" rtlCol="0" anchor="ctr"/>
          <a:lstStyle/>
          <a:p>
            <a:pPr marL="0" indent="0">
              <a:buNone/>
            </a:pPr>
            <a:r>
              <a:rPr lang="en-US" dirty="0">
                <a:solidFill>
                  <a:srgbClr val="7A8599"/>
                </a:solidFill>
                <a:latin typeface="Calibri Light" pitchFamily="34" charset="0"/>
                <a:ea typeface="Calibri Light" pitchFamily="34" charset="-122"/>
                <a:cs typeface="Calibri Light" pitchFamily="34" charset="-120"/>
              </a:rPr>
              <a:t>Observer pattern — event bus</a:t>
            </a:r>
            <a:endParaRPr lang="en-US" dirty="0"/>
          </a:p>
        </p:txBody>
      </p:sp>
      <p:sp>
        <p:nvSpPr>
          <p:cNvPr id="25" name="Text 23">
            <a:extLst>
              <a:ext uri="{FF2B5EF4-FFF2-40B4-BE49-F238E27FC236}">
                <a16:creationId xmlns:a16="http://schemas.microsoft.com/office/drawing/2014/main" id="{3E82C9FA-858B-FAAC-F701-C89729164F8D}"/>
              </a:ext>
            </a:extLst>
          </p:cNvPr>
          <p:cNvSpPr/>
          <p:nvPr/>
        </p:nvSpPr>
        <p:spPr>
          <a:xfrm>
            <a:off x="781672" y="5447887"/>
            <a:ext cx="1371600" cy="292608"/>
          </a:xfrm>
          <a:prstGeom prst="rect">
            <a:avLst/>
          </a:prstGeom>
          <a:noFill/>
          <a:ln/>
        </p:spPr>
        <p:txBody>
          <a:bodyPr wrap="square" lIns="0" tIns="0" rIns="0" bIns="0" rtlCol="0" anchor="ctr"/>
          <a:lstStyle/>
          <a:p>
            <a:r>
              <a:rPr lang="en-US" sz="2000" b="1" dirty="0">
                <a:solidFill>
                  <a:srgbClr val="AA81CA"/>
                </a:solidFill>
                <a:latin typeface="Consolas" pitchFamily="34" charset="0"/>
              </a:rPr>
              <a:t>GameWorld</a:t>
            </a:r>
          </a:p>
        </p:txBody>
      </p:sp>
      <p:sp>
        <p:nvSpPr>
          <p:cNvPr id="26" name="Text 24">
            <a:extLst>
              <a:ext uri="{FF2B5EF4-FFF2-40B4-BE49-F238E27FC236}">
                <a16:creationId xmlns:a16="http://schemas.microsoft.com/office/drawing/2014/main" id="{375AD490-AD53-5655-27DE-A9F4F8F3A15C}"/>
              </a:ext>
            </a:extLst>
          </p:cNvPr>
          <p:cNvSpPr/>
          <p:nvPr/>
        </p:nvSpPr>
        <p:spPr>
          <a:xfrm>
            <a:off x="2879643" y="5477128"/>
            <a:ext cx="3090068" cy="356953"/>
          </a:xfrm>
          <a:prstGeom prst="rect">
            <a:avLst/>
          </a:prstGeom>
          <a:noFill/>
          <a:ln/>
        </p:spPr>
        <p:txBody>
          <a:bodyPr wrap="square" lIns="0" tIns="0" rIns="0" bIns="0" rtlCol="0" anchor="ctr"/>
          <a:lstStyle/>
          <a:p>
            <a:pPr marL="0" indent="0">
              <a:buNone/>
            </a:pPr>
            <a:r>
              <a:rPr lang="en-US" dirty="0">
                <a:solidFill>
                  <a:srgbClr val="7A8599"/>
                </a:solidFill>
                <a:latin typeface="Calibri Light" pitchFamily="34" charset="0"/>
                <a:ea typeface="Calibri Light" pitchFamily="34" charset="-122"/>
                <a:cs typeface="Calibri Light" pitchFamily="34" charset="-120"/>
              </a:rPr>
              <a:t>World state &amp; entity spawning</a:t>
            </a:r>
            <a:endParaRPr lang="en-US" dirty="0"/>
          </a:p>
        </p:txBody>
      </p:sp>
      <p:pic>
        <p:nvPicPr>
          <p:cNvPr id="30" name="Picture 29" descr="A screen shot of a computer code&#10;&#10;Description automatically generated">
            <a:extLst>
              <a:ext uri="{FF2B5EF4-FFF2-40B4-BE49-F238E27FC236}">
                <a16:creationId xmlns:a16="http://schemas.microsoft.com/office/drawing/2014/main" id="{B95B25DE-2308-3CBA-DAFB-0C74F2145B2B}"/>
              </a:ext>
            </a:extLst>
          </p:cNvPr>
          <p:cNvPicPr>
            <a:picLocks noChangeAspect="1"/>
          </p:cNvPicPr>
          <p:nvPr/>
        </p:nvPicPr>
        <p:blipFill rotWithShape="1">
          <a:blip r:embed="rId2">
            <a:extLst>
              <a:ext uri="{28A0092B-C50C-407E-A947-70E740481C1C}">
                <a14:useLocalDpi xmlns:a14="http://schemas.microsoft.com/office/drawing/2010/main" val="0"/>
              </a:ext>
            </a:extLst>
          </a:blip>
          <a:srcRect l="-1795" t="80" r="615" b="1"/>
          <a:stretch/>
        </p:blipFill>
        <p:spPr>
          <a:xfrm>
            <a:off x="5680995" y="765917"/>
            <a:ext cx="6231065" cy="5681257"/>
          </a:xfrm>
          <a:prstGeom prst="rect">
            <a:avLst/>
          </a:prstGeom>
          <a:effectLst/>
        </p:spPr>
      </p:pic>
      <p:cxnSp>
        <p:nvCxnSpPr>
          <p:cNvPr id="32" name="Straight Connector 31">
            <a:extLst>
              <a:ext uri="{FF2B5EF4-FFF2-40B4-BE49-F238E27FC236}">
                <a16:creationId xmlns:a16="http://schemas.microsoft.com/office/drawing/2014/main" id="{CC37AC6C-DBDD-BC82-3B43-E27EFB1C4C3F}"/>
              </a:ext>
            </a:extLst>
          </p:cNvPr>
          <p:cNvCxnSpPr>
            <a:cxnSpLocks/>
          </p:cNvCxnSpPr>
          <p:nvPr/>
        </p:nvCxnSpPr>
        <p:spPr>
          <a:xfrm>
            <a:off x="424815" y="146304"/>
            <a:ext cx="11996" cy="619613"/>
          </a:xfrm>
          <a:prstGeom prst="line">
            <a:avLst/>
          </a:prstGeom>
          <a:ln w="76200">
            <a:solidFill>
              <a:srgbClr val="AA81CA"/>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9327632-622E-F2C6-AD95-1CDCF045D717}"/>
              </a:ext>
            </a:extLst>
          </p:cNvPr>
          <p:cNvCxnSpPr>
            <a:cxnSpLocks/>
          </p:cNvCxnSpPr>
          <p:nvPr/>
        </p:nvCxnSpPr>
        <p:spPr>
          <a:xfrm>
            <a:off x="695339" y="2986259"/>
            <a:ext cx="0" cy="2815650"/>
          </a:xfrm>
          <a:prstGeom prst="line">
            <a:avLst/>
          </a:prstGeom>
          <a:ln w="76200">
            <a:solidFill>
              <a:srgbClr val="AA81CA"/>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616D63B1-15A1-6A67-71F4-ED89DE270876}"/>
              </a:ext>
            </a:extLst>
          </p:cNvPr>
          <p:cNvCxnSpPr/>
          <p:nvPr/>
        </p:nvCxnSpPr>
        <p:spPr>
          <a:xfrm>
            <a:off x="406500" y="3410227"/>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99D1B956-3A11-D943-89AA-0CE904B20A37}"/>
              </a:ext>
            </a:extLst>
          </p:cNvPr>
          <p:cNvCxnSpPr/>
          <p:nvPr/>
        </p:nvCxnSpPr>
        <p:spPr>
          <a:xfrm>
            <a:off x="361140" y="3886904"/>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0E1E600A-8492-010A-7566-671247A9A119}"/>
              </a:ext>
            </a:extLst>
          </p:cNvPr>
          <p:cNvCxnSpPr/>
          <p:nvPr/>
        </p:nvCxnSpPr>
        <p:spPr>
          <a:xfrm>
            <a:off x="379177" y="4359090"/>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C18C6BFB-C726-F667-8F9D-1D94BDBD0ECB}"/>
              </a:ext>
            </a:extLst>
          </p:cNvPr>
          <p:cNvCxnSpPr/>
          <p:nvPr/>
        </p:nvCxnSpPr>
        <p:spPr>
          <a:xfrm>
            <a:off x="406500" y="4840401"/>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E2840B2D-5037-C33C-52E9-2869EFD5FC41}"/>
              </a:ext>
            </a:extLst>
          </p:cNvPr>
          <p:cNvCxnSpPr/>
          <p:nvPr/>
        </p:nvCxnSpPr>
        <p:spPr>
          <a:xfrm>
            <a:off x="361140" y="5328261"/>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2723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95BB3F-8749-AAF0-567D-4B125BA2C370}"/>
              </a:ext>
            </a:extLst>
          </p:cNvPr>
          <p:cNvSpPr/>
          <p:nvPr/>
        </p:nvSpPr>
        <p:spPr>
          <a:xfrm>
            <a:off x="6572250" y="1154430"/>
            <a:ext cx="5324472" cy="5246370"/>
          </a:xfrm>
          <a:prstGeom prst="rect">
            <a:avLst/>
          </a:prstGeom>
          <a:solidFill>
            <a:srgbClr val="1A1B28"/>
          </a:solidFill>
          <a:ln w="3810">
            <a:solidFill>
              <a:srgbClr val="FFFFFF">
                <a:alpha val="10000"/>
              </a:srgbClr>
            </a:solidFill>
            <a:prstDash val="solid"/>
          </a:ln>
        </p:spPr>
        <p:txBody>
          <a:bodyPr/>
          <a:lstStyle/>
          <a:p>
            <a:endParaRPr lang="en-US">
              <a:solidFill>
                <a:schemeClr val="tx1"/>
              </a:solidFill>
            </a:endParaRPr>
          </a:p>
        </p:txBody>
      </p:sp>
      <p:sp>
        <p:nvSpPr>
          <p:cNvPr id="3" name="TextBox 2">
            <a:extLst>
              <a:ext uri="{FF2B5EF4-FFF2-40B4-BE49-F238E27FC236}">
                <a16:creationId xmlns:a16="http://schemas.microsoft.com/office/drawing/2014/main" id="{FA83ED37-F068-4162-3D95-0F7D354C7984}"/>
              </a:ext>
            </a:extLst>
          </p:cNvPr>
          <p:cNvSpPr txBox="1"/>
          <p:nvPr/>
        </p:nvSpPr>
        <p:spPr>
          <a:xfrm>
            <a:off x="555155" y="365430"/>
            <a:ext cx="6096000" cy="584775"/>
          </a:xfrm>
          <a:prstGeom prst="rect">
            <a:avLst/>
          </a:prstGeom>
          <a:noFill/>
        </p:spPr>
        <p:txBody>
          <a:bodyPr wrap="square" rtlCol="0">
            <a:spAutoFit/>
          </a:bodyPr>
          <a:lstStyle>
            <a:defPPr>
              <a:defRPr lang="en-US"/>
            </a:defPPr>
            <a:lvl1pPr>
              <a:defRPr sz="3200" b="1">
                <a:solidFill>
                  <a:schemeClr val="accent1">
                    <a:lumMod val="60000"/>
                    <a:lumOff val="40000"/>
                  </a:schemeClr>
                </a:solidFill>
                <a:latin typeface="Lucida Console" panose="020B0609040504020204" pitchFamily="49" charset="0"/>
              </a:defRPr>
            </a:lvl1pPr>
          </a:lstStyle>
          <a:p>
            <a:r>
              <a:rPr lang="en-US" dirty="0"/>
              <a:t>Encapsulation</a:t>
            </a:r>
          </a:p>
        </p:txBody>
      </p:sp>
      <p:cxnSp>
        <p:nvCxnSpPr>
          <p:cNvPr id="4" name="Straight Connector 3">
            <a:extLst>
              <a:ext uri="{FF2B5EF4-FFF2-40B4-BE49-F238E27FC236}">
                <a16:creationId xmlns:a16="http://schemas.microsoft.com/office/drawing/2014/main" id="{515B612B-06B9-39C7-87B2-9D33A0AD9DEA}"/>
              </a:ext>
            </a:extLst>
          </p:cNvPr>
          <p:cNvCxnSpPr>
            <a:cxnSpLocks/>
          </p:cNvCxnSpPr>
          <p:nvPr/>
        </p:nvCxnSpPr>
        <p:spPr>
          <a:xfrm>
            <a:off x="555155" y="365430"/>
            <a:ext cx="0" cy="617445"/>
          </a:xfrm>
          <a:prstGeom prst="line">
            <a:avLst/>
          </a:prstGeom>
          <a:ln w="76200">
            <a:solidFill>
              <a:schemeClr val="bg2">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pic>
        <p:nvPicPr>
          <p:cNvPr id="10" name="Picture 9" descr="A screen shot of a computer code&#10;&#10;Description automatically generated">
            <a:extLst>
              <a:ext uri="{FF2B5EF4-FFF2-40B4-BE49-F238E27FC236}">
                <a16:creationId xmlns:a16="http://schemas.microsoft.com/office/drawing/2014/main" id="{06904F5D-2CB7-4F44-15C7-3B8B1AAFC716}"/>
              </a:ext>
            </a:extLst>
          </p:cNvPr>
          <p:cNvPicPr>
            <a:picLocks noChangeAspect="1"/>
          </p:cNvPicPr>
          <p:nvPr/>
        </p:nvPicPr>
        <p:blipFill rotWithShape="1">
          <a:blip r:embed="rId2">
            <a:extLst>
              <a:ext uri="{28A0092B-C50C-407E-A947-70E740481C1C}">
                <a14:useLocalDpi xmlns:a14="http://schemas.microsoft.com/office/drawing/2010/main" val="0"/>
              </a:ext>
            </a:extLst>
          </a:blip>
          <a:srcRect l="-1795" t="80" r="615" b="1"/>
          <a:stretch/>
        </p:blipFill>
        <p:spPr>
          <a:xfrm>
            <a:off x="6219829" y="866608"/>
            <a:ext cx="5972171" cy="5822013"/>
          </a:xfrm>
          <a:prstGeom prst="rect">
            <a:avLst/>
          </a:prstGeom>
          <a:effectLst/>
        </p:spPr>
      </p:pic>
      <p:sp>
        <p:nvSpPr>
          <p:cNvPr id="12" name="Rectangle 11">
            <a:extLst>
              <a:ext uri="{FF2B5EF4-FFF2-40B4-BE49-F238E27FC236}">
                <a16:creationId xmlns:a16="http://schemas.microsoft.com/office/drawing/2014/main" id="{A57B07E0-27BC-65CC-D933-CD21D1726FF0}"/>
              </a:ext>
            </a:extLst>
          </p:cNvPr>
          <p:cNvSpPr/>
          <p:nvPr/>
        </p:nvSpPr>
        <p:spPr>
          <a:xfrm>
            <a:off x="401408" y="1139433"/>
            <a:ext cx="5972170" cy="5246370"/>
          </a:xfrm>
          <a:prstGeom prst="rect">
            <a:avLst/>
          </a:prstGeom>
          <a:solidFill>
            <a:srgbClr val="1A1B28"/>
          </a:solidFill>
          <a:ln w="3810">
            <a:solidFill>
              <a:srgbClr val="FFFFFF">
                <a:alpha val="10000"/>
              </a:srgbClr>
            </a:solidFill>
            <a:prstDash val="solid"/>
          </a:ln>
        </p:spPr>
        <p:txBody>
          <a:bodyPr/>
          <a:lstStyle/>
          <a:p>
            <a:endParaRPr lang="en-US">
              <a:solidFill>
                <a:schemeClr val="tx1"/>
              </a:solidFill>
            </a:endParaRPr>
          </a:p>
        </p:txBody>
      </p:sp>
      <p:sp>
        <p:nvSpPr>
          <p:cNvPr id="16" name="Text 5">
            <a:extLst>
              <a:ext uri="{FF2B5EF4-FFF2-40B4-BE49-F238E27FC236}">
                <a16:creationId xmlns:a16="http://schemas.microsoft.com/office/drawing/2014/main" id="{CEAEC29D-78C2-531C-BB8E-A6C18954B700}"/>
              </a:ext>
            </a:extLst>
          </p:cNvPr>
          <p:cNvSpPr/>
          <p:nvPr/>
        </p:nvSpPr>
        <p:spPr>
          <a:xfrm>
            <a:off x="635163" y="1313263"/>
            <a:ext cx="3383280" cy="347472"/>
          </a:xfrm>
          <a:prstGeom prst="rect">
            <a:avLst/>
          </a:prstGeom>
          <a:noFill/>
          <a:ln/>
        </p:spPr>
        <p:txBody>
          <a:bodyPr wrap="square" lIns="0" tIns="0" rIns="0" bIns="0" rtlCol="0" anchor="ctr"/>
          <a:lstStyle/>
          <a:p>
            <a:pPr marL="0" indent="0">
              <a:buNone/>
            </a:pPr>
            <a:r>
              <a:rPr lang="en-US" sz="3200" b="1" dirty="0">
                <a:solidFill>
                  <a:srgbClr val="00D4FF"/>
                </a:solidFill>
                <a:latin typeface="Calibri" pitchFamily="34" charset="0"/>
                <a:ea typeface="Calibri" pitchFamily="34" charset="-122"/>
                <a:cs typeface="Calibri" pitchFamily="34" charset="-120"/>
              </a:rPr>
              <a:t>What is it?</a:t>
            </a:r>
            <a:endParaRPr lang="en-US" sz="3200" dirty="0"/>
          </a:p>
        </p:txBody>
      </p:sp>
      <p:sp>
        <p:nvSpPr>
          <p:cNvPr id="17" name="Text 6">
            <a:extLst>
              <a:ext uri="{FF2B5EF4-FFF2-40B4-BE49-F238E27FC236}">
                <a16:creationId xmlns:a16="http://schemas.microsoft.com/office/drawing/2014/main" id="{09EF3177-7D38-9255-9082-4A6F1AEE7E76}"/>
              </a:ext>
            </a:extLst>
          </p:cNvPr>
          <p:cNvSpPr/>
          <p:nvPr/>
        </p:nvSpPr>
        <p:spPr>
          <a:xfrm>
            <a:off x="635163" y="1812384"/>
            <a:ext cx="5337009" cy="1391988"/>
          </a:xfrm>
          <a:prstGeom prst="rect">
            <a:avLst/>
          </a:prstGeom>
          <a:noFill/>
          <a:ln/>
        </p:spPr>
        <p:txBody>
          <a:bodyPr wrap="square" lIns="0" tIns="0" rIns="0" bIns="0" rtlCol="0" anchor="t"/>
          <a:lstStyle/>
          <a:p>
            <a:pPr marL="0" indent="0">
              <a:buNone/>
            </a:pPr>
            <a:r>
              <a:rPr lang="en-US" sz="2000" dirty="0">
                <a:solidFill>
                  <a:srgbClr val="D0D8E8"/>
                </a:solidFill>
                <a:latin typeface="Calibri Light" pitchFamily="34" charset="0"/>
                <a:ea typeface="Calibri Light" pitchFamily="34" charset="-122"/>
                <a:cs typeface="Calibri Light" pitchFamily="34" charset="-120"/>
              </a:rPr>
              <a:t>Hiding internal data and only exposing what is necessary through public methods. In our engine, Entity keeps health and id as private — accessed only via safe public methods.</a:t>
            </a:r>
            <a:endParaRPr lang="en-US" sz="2000" dirty="0"/>
          </a:p>
        </p:txBody>
      </p:sp>
      <p:sp>
        <p:nvSpPr>
          <p:cNvPr id="18" name="Shape 7">
            <a:extLst>
              <a:ext uri="{FF2B5EF4-FFF2-40B4-BE49-F238E27FC236}">
                <a16:creationId xmlns:a16="http://schemas.microsoft.com/office/drawing/2014/main" id="{D7B231A5-ACFC-C3D2-913D-0F860836CF26}"/>
              </a:ext>
            </a:extLst>
          </p:cNvPr>
          <p:cNvSpPr/>
          <p:nvPr/>
        </p:nvSpPr>
        <p:spPr>
          <a:xfrm>
            <a:off x="654133" y="3187245"/>
            <a:ext cx="65004" cy="848109"/>
          </a:xfrm>
          <a:prstGeom prst="rect">
            <a:avLst/>
          </a:prstGeom>
          <a:solidFill>
            <a:srgbClr val="FF6B6B"/>
          </a:solidFill>
          <a:ln w="12700">
            <a:solidFill>
              <a:srgbClr val="FF6B6B"/>
            </a:solidFill>
            <a:prstDash val="solid"/>
          </a:ln>
        </p:spPr>
        <p:txBody>
          <a:bodyPr/>
          <a:lstStyle/>
          <a:p>
            <a:endParaRPr lang="en-US"/>
          </a:p>
        </p:txBody>
      </p:sp>
      <p:sp>
        <p:nvSpPr>
          <p:cNvPr id="19" name="Text 8">
            <a:extLst>
              <a:ext uri="{FF2B5EF4-FFF2-40B4-BE49-F238E27FC236}">
                <a16:creationId xmlns:a16="http://schemas.microsoft.com/office/drawing/2014/main" id="{6D07B083-3FB5-6544-6386-D857A8412D7E}"/>
              </a:ext>
            </a:extLst>
          </p:cNvPr>
          <p:cNvSpPr/>
          <p:nvPr/>
        </p:nvSpPr>
        <p:spPr>
          <a:xfrm>
            <a:off x="871929" y="3163776"/>
            <a:ext cx="3200400" cy="274320"/>
          </a:xfrm>
          <a:prstGeom prst="rect">
            <a:avLst/>
          </a:prstGeom>
          <a:noFill/>
          <a:ln/>
        </p:spPr>
        <p:txBody>
          <a:bodyPr wrap="square" lIns="0" tIns="0" rIns="0" bIns="0" rtlCol="0" anchor="ctr"/>
          <a:lstStyle/>
          <a:p>
            <a:pPr marL="0" indent="0">
              <a:buNone/>
            </a:pPr>
            <a:r>
              <a:rPr lang="en-US" b="1" dirty="0">
                <a:solidFill>
                  <a:srgbClr val="FF6B6B"/>
                </a:solidFill>
                <a:latin typeface="Consolas" pitchFamily="34" charset="0"/>
                <a:ea typeface="Consolas" pitchFamily="34" charset="-122"/>
                <a:cs typeface="Consolas" pitchFamily="34" charset="-120"/>
              </a:rPr>
              <a:t>private:</a:t>
            </a:r>
            <a:endParaRPr lang="en-US" dirty="0"/>
          </a:p>
        </p:txBody>
      </p:sp>
      <p:sp>
        <p:nvSpPr>
          <p:cNvPr id="20" name="Text 9">
            <a:extLst>
              <a:ext uri="{FF2B5EF4-FFF2-40B4-BE49-F238E27FC236}">
                <a16:creationId xmlns:a16="http://schemas.microsoft.com/office/drawing/2014/main" id="{B8134CE4-6AF1-1A4C-0481-007D554ACF40}"/>
              </a:ext>
            </a:extLst>
          </p:cNvPr>
          <p:cNvSpPr/>
          <p:nvPr/>
        </p:nvSpPr>
        <p:spPr>
          <a:xfrm>
            <a:off x="3192390" y="3681702"/>
            <a:ext cx="3826984" cy="289090"/>
          </a:xfrm>
          <a:prstGeom prst="rect">
            <a:avLst/>
          </a:prstGeom>
          <a:noFill/>
          <a:ln/>
        </p:spPr>
        <p:txBody>
          <a:bodyPr wrap="square" lIns="0" tIns="0" rIns="0" bIns="0" rtlCol="0" anchor="ctr"/>
          <a:lstStyle/>
          <a:p>
            <a:pPr marL="0" indent="0">
              <a:buNone/>
            </a:pPr>
            <a:r>
              <a:rPr lang="en-US" sz="1400" dirty="0">
                <a:solidFill>
                  <a:srgbClr val="7A8599"/>
                </a:solidFill>
                <a:latin typeface="Calibri Light" pitchFamily="34" charset="0"/>
                <a:ea typeface="Calibri Light" pitchFamily="34" charset="-122"/>
                <a:cs typeface="Calibri Light" pitchFamily="34" charset="-120"/>
              </a:rPr>
              <a:t>health, id, nextId — no direct access</a:t>
            </a:r>
            <a:endParaRPr lang="en-US" sz="1400" dirty="0"/>
          </a:p>
        </p:txBody>
      </p:sp>
      <p:sp>
        <p:nvSpPr>
          <p:cNvPr id="21" name="Shape 10">
            <a:extLst>
              <a:ext uri="{FF2B5EF4-FFF2-40B4-BE49-F238E27FC236}">
                <a16:creationId xmlns:a16="http://schemas.microsoft.com/office/drawing/2014/main" id="{7F82C7C4-FF72-D2A6-28C7-51EE37B25F3B}"/>
              </a:ext>
            </a:extLst>
          </p:cNvPr>
          <p:cNvSpPr/>
          <p:nvPr/>
        </p:nvSpPr>
        <p:spPr>
          <a:xfrm>
            <a:off x="654133" y="4155178"/>
            <a:ext cx="65004" cy="848109"/>
          </a:xfrm>
          <a:prstGeom prst="rect">
            <a:avLst/>
          </a:prstGeom>
          <a:solidFill>
            <a:srgbClr val="F59E0B"/>
          </a:solidFill>
          <a:ln w="12700">
            <a:solidFill>
              <a:srgbClr val="F59E0B"/>
            </a:solidFill>
            <a:prstDash val="solid"/>
          </a:ln>
        </p:spPr>
        <p:txBody>
          <a:bodyPr/>
          <a:lstStyle/>
          <a:p>
            <a:endParaRPr lang="en-US"/>
          </a:p>
        </p:txBody>
      </p:sp>
      <p:sp>
        <p:nvSpPr>
          <p:cNvPr id="22" name="Text 11">
            <a:extLst>
              <a:ext uri="{FF2B5EF4-FFF2-40B4-BE49-F238E27FC236}">
                <a16:creationId xmlns:a16="http://schemas.microsoft.com/office/drawing/2014/main" id="{B719DE2B-1893-3B3B-1A0A-B52E76AA0278}"/>
              </a:ext>
            </a:extLst>
          </p:cNvPr>
          <p:cNvSpPr/>
          <p:nvPr/>
        </p:nvSpPr>
        <p:spPr>
          <a:xfrm>
            <a:off x="791534" y="4114703"/>
            <a:ext cx="3200400" cy="274320"/>
          </a:xfrm>
          <a:prstGeom prst="rect">
            <a:avLst/>
          </a:prstGeom>
          <a:noFill/>
          <a:ln/>
        </p:spPr>
        <p:txBody>
          <a:bodyPr wrap="square" lIns="0" tIns="0" rIns="0" bIns="0" rtlCol="0" anchor="ctr"/>
          <a:lstStyle/>
          <a:p>
            <a:pPr marL="0" indent="0">
              <a:buNone/>
            </a:pPr>
            <a:r>
              <a:rPr lang="en-US" b="1" dirty="0">
                <a:solidFill>
                  <a:srgbClr val="F59E0B"/>
                </a:solidFill>
                <a:latin typeface="Consolas" pitchFamily="34" charset="0"/>
                <a:ea typeface="Consolas" pitchFamily="34" charset="-122"/>
                <a:cs typeface="Consolas" pitchFamily="34" charset="-120"/>
              </a:rPr>
              <a:t>protected:</a:t>
            </a:r>
            <a:endParaRPr lang="en-US" dirty="0"/>
          </a:p>
        </p:txBody>
      </p:sp>
      <p:sp>
        <p:nvSpPr>
          <p:cNvPr id="23" name="Text 12">
            <a:extLst>
              <a:ext uri="{FF2B5EF4-FFF2-40B4-BE49-F238E27FC236}">
                <a16:creationId xmlns:a16="http://schemas.microsoft.com/office/drawing/2014/main" id="{ADF3F7D8-4FF7-0F74-BAC3-CA8620F9BA6F}"/>
              </a:ext>
            </a:extLst>
          </p:cNvPr>
          <p:cNvSpPr/>
          <p:nvPr/>
        </p:nvSpPr>
        <p:spPr>
          <a:xfrm>
            <a:off x="3493222" y="4621053"/>
            <a:ext cx="3200400" cy="256032"/>
          </a:xfrm>
          <a:prstGeom prst="rect">
            <a:avLst/>
          </a:prstGeom>
          <a:noFill/>
          <a:ln/>
        </p:spPr>
        <p:txBody>
          <a:bodyPr wrap="square" lIns="0" tIns="0" rIns="0" bIns="0" rtlCol="0" anchor="ctr"/>
          <a:lstStyle/>
          <a:p>
            <a:pPr marL="0" indent="0">
              <a:buNone/>
            </a:pPr>
            <a:r>
              <a:rPr lang="en-US" sz="1400" dirty="0">
                <a:solidFill>
                  <a:srgbClr val="7A8599"/>
                </a:solidFill>
                <a:latin typeface="Calibri Light" pitchFamily="34" charset="0"/>
                <a:ea typeface="Calibri Light" pitchFamily="34" charset="-122"/>
                <a:cs typeface="Calibri Light" pitchFamily="34" charset="-120"/>
              </a:rPr>
              <a:t>position, velocity, type, active</a:t>
            </a:r>
            <a:endParaRPr lang="en-US" sz="1400" dirty="0"/>
          </a:p>
        </p:txBody>
      </p:sp>
      <p:sp>
        <p:nvSpPr>
          <p:cNvPr id="24" name="Shape 13">
            <a:extLst>
              <a:ext uri="{FF2B5EF4-FFF2-40B4-BE49-F238E27FC236}">
                <a16:creationId xmlns:a16="http://schemas.microsoft.com/office/drawing/2014/main" id="{060ADF24-2D5E-C35B-1721-C3306BE360F7}"/>
              </a:ext>
            </a:extLst>
          </p:cNvPr>
          <p:cNvSpPr/>
          <p:nvPr/>
        </p:nvSpPr>
        <p:spPr>
          <a:xfrm>
            <a:off x="654133" y="5123111"/>
            <a:ext cx="65004" cy="848109"/>
          </a:xfrm>
          <a:prstGeom prst="rect">
            <a:avLst/>
          </a:prstGeom>
          <a:solidFill>
            <a:srgbClr val="4ADE80"/>
          </a:solidFill>
          <a:ln w="12700">
            <a:solidFill>
              <a:srgbClr val="4ADE80"/>
            </a:solidFill>
            <a:prstDash val="solid"/>
          </a:ln>
        </p:spPr>
        <p:txBody>
          <a:bodyPr/>
          <a:lstStyle/>
          <a:p>
            <a:endParaRPr lang="en-US"/>
          </a:p>
        </p:txBody>
      </p:sp>
      <p:sp>
        <p:nvSpPr>
          <p:cNvPr id="25" name="Text 14">
            <a:extLst>
              <a:ext uri="{FF2B5EF4-FFF2-40B4-BE49-F238E27FC236}">
                <a16:creationId xmlns:a16="http://schemas.microsoft.com/office/drawing/2014/main" id="{C037DCF8-CF07-ACC5-206E-07283E88B2E3}"/>
              </a:ext>
            </a:extLst>
          </p:cNvPr>
          <p:cNvSpPr/>
          <p:nvPr/>
        </p:nvSpPr>
        <p:spPr>
          <a:xfrm>
            <a:off x="818043" y="5126553"/>
            <a:ext cx="3200400" cy="274320"/>
          </a:xfrm>
          <a:prstGeom prst="rect">
            <a:avLst/>
          </a:prstGeom>
          <a:noFill/>
          <a:ln/>
        </p:spPr>
        <p:txBody>
          <a:bodyPr wrap="square" lIns="0" tIns="0" rIns="0" bIns="0" rtlCol="0" anchor="ctr"/>
          <a:lstStyle/>
          <a:p>
            <a:pPr marL="0" indent="0">
              <a:buNone/>
            </a:pPr>
            <a:r>
              <a:rPr lang="en-US" b="1" dirty="0">
                <a:solidFill>
                  <a:srgbClr val="4ADE80"/>
                </a:solidFill>
                <a:latin typeface="Consolas" pitchFamily="34" charset="0"/>
                <a:ea typeface="Consolas" pitchFamily="34" charset="-122"/>
                <a:cs typeface="Consolas" pitchFamily="34" charset="-120"/>
              </a:rPr>
              <a:t>public:</a:t>
            </a:r>
            <a:endParaRPr lang="en-US" dirty="0"/>
          </a:p>
        </p:txBody>
      </p:sp>
      <p:sp>
        <p:nvSpPr>
          <p:cNvPr id="26" name="Text 15">
            <a:extLst>
              <a:ext uri="{FF2B5EF4-FFF2-40B4-BE49-F238E27FC236}">
                <a16:creationId xmlns:a16="http://schemas.microsoft.com/office/drawing/2014/main" id="{33B35467-BEA2-8CE0-E377-A267B0A96D53}"/>
              </a:ext>
            </a:extLst>
          </p:cNvPr>
          <p:cNvSpPr/>
          <p:nvPr/>
        </p:nvSpPr>
        <p:spPr>
          <a:xfrm>
            <a:off x="2996056" y="5573863"/>
            <a:ext cx="4124950" cy="289090"/>
          </a:xfrm>
          <a:prstGeom prst="rect">
            <a:avLst/>
          </a:prstGeom>
          <a:noFill/>
          <a:ln/>
        </p:spPr>
        <p:txBody>
          <a:bodyPr wrap="square" lIns="0" tIns="0" rIns="0" bIns="0" rtlCol="0" anchor="ctr"/>
          <a:lstStyle/>
          <a:p>
            <a:pPr marL="0" indent="0">
              <a:buNone/>
            </a:pPr>
            <a:r>
              <a:rPr lang="en-US" sz="1400" dirty="0">
                <a:solidFill>
                  <a:srgbClr val="7A8599"/>
                </a:solidFill>
                <a:latin typeface="Calibri Light" pitchFamily="34" charset="0"/>
                <a:ea typeface="Calibri Light" pitchFamily="34" charset="-122"/>
                <a:cs typeface="Calibri Light" pitchFamily="34" charset="-120"/>
              </a:rPr>
              <a:t>getPosition(), takeDamage() — safe API</a:t>
            </a:r>
            <a:endParaRPr lang="en-US" sz="1400" dirty="0"/>
          </a:p>
        </p:txBody>
      </p:sp>
      <p:sp>
        <p:nvSpPr>
          <p:cNvPr id="27" name="TextBox 26">
            <a:extLst>
              <a:ext uri="{FF2B5EF4-FFF2-40B4-BE49-F238E27FC236}">
                <a16:creationId xmlns:a16="http://schemas.microsoft.com/office/drawing/2014/main" id="{7007618C-FD45-C048-4BB6-53FE581E5195}"/>
              </a:ext>
            </a:extLst>
          </p:cNvPr>
          <p:cNvSpPr txBox="1"/>
          <p:nvPr/>
        </p:nvSpPr>
        <p:spPr>
          <a:xfrm>
            <a:off x="704691" y="3441768"/>
            <a:ext cx="5515137" cy="523220"/>
          </a:xfrm>
          <a:prstGeom prst="rect">
            <a:avLst/>
          </a:prstGeom>
          <a:noFill/>
        </p:spPr>
        <p:txBody>
          <a:bodyPr wrap="square" rtlCol="0">
            <a:spAutoFit/>
          </a:bodyPr>
          <a:lstStyle/>
          <a:p>
            <a:r>
              <a:rPr lang="en-US" sz="1400" dirty="0"/>
              <a:t>Only accessible inside the Entity class itself — no other class can read or modify it directly.</a:t>
            </a:r>
          </a:p>
        </p:txBody>
      </p:sp>
      <p:sp>
        <p:nvSpPr>
          <p:cNvPr id="28" name="TextBox 27">
            <a:extLst>
              <a:ext uri="{FF2B5EF4-FFF2-40B4-BE49-F238E27FC236}">
                <a16:creationId xmlns:a16="http://schemas.microsoft.com/office/drawing/2014/main" id="{F11B0DCD-DEC2-BFD0-EED6-9DCBC85FFA92}"/>
              </a:ext>
            </a:extLst>
          </p:cNvPr>
          <p:cNvSpPr txBox="1"/>
          <p:nvPr/>
        </p:nvSpPr>
        <p:spPr>
          <a:xfrm>
            <a:off x="755873" y="4405517"/>
            <a:ext cx="5263239" cy="523220"/>
          </a:xfrm>
          <a:prstGeom prst="rect">
            <a:avLst/>
          </a:prstGeom>
          <a:noFill/>
        </p:spPr>
        <p:txBody>
          <a:bodyPr wrap="square" rtlCol="0">
            <a:spAutoFit/>
          </a:bodyPr>
          <a:lstStyle/>
          <a:p>
            <a:r>
              <a:rPr lang="en-US" sz="1400" dirty="0"/>
              <a:t>Accessible inside Entity and any class that inherits from it — hidden from the outside world.</a:t>
            </a:r>
          </a:p>
        </p:txBody>
      </p:sp>
      <p:sp>
        <p:nvSpPr>
          <p:cNvPr id="29" name="TextBox 28">
            <a:extLst>
              <a:ext uri="{FF2B5EF4-FFF2-40B4-BE49-F238E27FC236}">
                <a16:creationId xmlns:a16="http://schemas.microsoft.com/office/drawing/2014/main" id="{BB8A28FA-3218-5662-EF83-FAD239B5ABFF}"/>
              </a:ext>
            </a:extLst>
          </p:cNvPr>
          <p:cNvSpPr txBox="1"/>
          <p:nvPr/>
        </p:nvSpPr>
        <p:spPr>
          <a:xfrm>
            <a:off x="730502" y="5452525"/>
            <a:ext cx="5477962" cy="523220"/>
          </a:xfrm>
          <a:prstGeom prst="rect">
            <a:avLst/>
          </a:prstGeom>
          <a:noFill/>
        </p:spPr>
        <p:txBody>
          <a:bodyPr wrap="square" rtlCol="0">
            <a:spAutoFit/>
          </a:bodyPr>
          <a:lstStyle/>
          <a:p>
            <a:r>
              <a:rPr lang="en-US" sz="1400" dirty="0"/>
              <a:t>Accessible by anyone — this is the safe interface we expose to interact with the entity.</a:t>
            </a:r>
          </a:p>
        </p:txBody>
      </p:sp>
      <p:cxnSp>
        <p:nvCxnSpPr>
          <p:cNvPr id="31" name="Straight Connector 30">
            <a:extLst>
              <a:ext uri="{FF2B5EF4-FFF2-40B4-BE49-F238E27FC236}">
                <a16:creationId xmlns:a16="http://schemas.microsoft.com/office/drawing/2014/main" id="{5564BE68-1CD3-224E-FAEC-6003ADB779E6}"/>
              </a:ext>
            </a:extLst>
          </p:cNvPr>
          <p:cNvCxnSpPr/>
          <p:nvPr/>
        </p:nvCxnSpPr>
        <p:spPr>
          <a:xfrm>
            <a:off x="615717" y="3964988"/>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1A94FED-EC52-FE73-C8AB-C6605F2BE0C9}"/>
              </a:ext>
            </a:extLst>
          </p:cNvPr>
          <p:cNvCxnSpPr/>
          <p:nvPr/>
        </p:nvCxnSpPr>
        <p:spPr>
          <a:xfrm>
            <a:off x="615717" y="4951347"/>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9D8DDAB-F1BD-C89B-A214-9548DC1CEEB4}"/>
              </a:ext>
            </a:extLst>
          </p:cNvPr>
          <p:cNvCxnSpPr/>
          <p:nvPr/>
        </p:nvCxnSpPr>
        <p:spPr>
          <a:xfrm>
            <a:off x="615717" y="5993830"/>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2854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EA902C2-3332-75B9-41E9-CFBC5B7DC9DD}"/>
              </a:ext>
            </a:extLst>
          </p:cNvPr>
          <p:cNvSpPr/>
          <p:nvPr/>
        </p:nvSpPr>
        <p:spPr>
          <a:xfrm>
            <a:off x="365760" y="1121899"/>
            <a:ext cx="5850228" cy="5080792"/>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16" name="Rectangle 15">
            <a:extLst>
              <a:ext uri="{FF2B5EF4-FFF2-40B4-BE49-F238E27FC236}">
                <a16:creationId xmlns:a16="http://schemas.microsoft.com/office/drawing/2014/main" id="{D03D6DE8-F18C-FBF0-982F-40CDC32D2D34}"/>
              </a:ext>
            </a:extLst>
          </p:cNvPr>
          <p:cNvSpPr/>
          <p:nvPr/>
        </p:nvSpPr>
        <p:spPr>
          <a:xfrm>
            <a:off x="6454919" y="1121899"/>
            <a:ext cx="5194935" cy="5122534"/>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2" name="Shape 0">
            <a:extLst>
              <a:ext uri="{FF2B5EF4-FFF2-40B4-BE49-F238E27FC236}">
                <a16:creationId xmlns:a16="http://schemas.microsoft.com/office/drawing/2014/main" id="{FE13A235-3877-B359-75FA-A23910F431A1}"/>
              </a:ext>
            </a:extLst>
          </p:cNvPr>
          <p:cNvSpPr/>
          <p:nvPr/>
        </p:nvSpPr>
        <p:spPr>
          <a:xfrm>
            <a:off x="365760" y="164592"/>
            <a:ext cx="45719" cy="568833"/>
          </a:xfrm>
          <a:prstGeom prst="rect">
            <a:avLst/>
          </a:prstGeom>
          <a:solidFill>
            <a:srgbClr val="10B981"/>
          </a:solidFill>
          <a:ln w="12700">
            <a:noFill/>
            <a:prstDash val="solid"/>
          </a:ln>
        </p:spPr>
        <p:txBody>
          <a:bodyPr/>
          <a:lstStyle/>
          <a:p>
            <a:endParaRPr lang="en-US">
              <a:solidFill>
                <a:srgbClr val="10B981"/>
              </a:solidFill>
            </a:endParaRPr>
          </a:p>
        </p:txBody>
      </p:sp>
      <p:sp>
        <p:nvSpPr>
          <p:cNvPr id="3" name="Text 1">
            <a:extLst>
              <a:ext uri="{FF2B5EF4-FFF2-40B4-BE49-F238E27FC236}">
                <a16:creationId xmlns:a16="http://schemas.microsoft.com/office/drawing/2014/main" id="{A525A1D7-AA4C-F95A-F14A-F1B0FA1B8826}"/>
              </a:ext>
            </a:extLst>
          </p:cNvPr>
          <p:cNvSpPr/>
          <p:nvPr/>
        </p:nvSpPr>
        <p:spPr>
          <a:xfrm>
            <a:off x="566928" y="146304"/>
            <a:ext cx="8229600" cy="685800"/>
          </a:xfrm>
          <a:prstGeom prst="rect">
            <a:avLst/>
          </a:prstGeom>
          <a:noFill/>
          <a:ln/>
        </p:spPr>
        <p:txBody>
          <a:bodyPr wrap="square" lIns="0" tIns="0" rIns="0" bIns="0" rtlCol="0" anchor="ctr"/>
          <a:lstStyle/>
          <a:p>
            <a:pPr indent="0">
              <a:buNone/>
            </a:pPr>
            <a:r>
              <a:rPr lang="en-US" sz="3200" b="1" dirty="0">
                <a:latin typeface="Lucida Console" panose="020B0609040504020204" pitchFamily="49" charset="0"/>
              </a:rPr>
              <a:t>Inheritance</a:t>
            </a:r>
          </a:p>
        </p:txBody>
      </p:sp>
      <p:sp>
        <p:nvSpPr>
          <p:cNvPr id="7" name="Text 5">
            <a:extLst>
              <a:ext uri="{FF2B5EF4-FFF2-40B4-BE49-F238E27FC236}">
                <a16:creationId xmlns:a16="http://schemas.microsoft.com/office/drawing/2014/main" id="{07FE126E-32A4-A939-2D92-D5CE268F3362}"/>
              </a:ext>
            </a:extLst>
          </p:cNvPr>
          <p:cNvSpPr/>
          <p:nvPr/>
        </p:nvSpPr>
        <p:spPr>
          <a:xfrm>
            <a:off x="623424" y="1239434"/>
            <a:ext cx="3383280" cy="365760"/>
          </a:xfrm>
          <a:prstGeom prst="rect">
            <a:avLst/>
          </a:prstGeom>
          <a:noFill/>
          <a:ln/>
        </p:spPr>
        <p:txBody>
          <a:bodyPr wrap="square" lIns="0" tIns="0" rIns="0" bIns="0" rtlCol="0" anchor="ctr"/>
          <a:lstStyle/>
          <a:p>
            <a:pPr marL="0" indent="0">
              <a:buNone/>
            </a:pPr>
            <a:r>
              <a:rPr lang="en-US" sz="3200" b="1" dirty="0">
                <a:solidFill>
                  <a:srgbClr val="10B981"/>
                </a:solidFill>
                <a:latin typeface="Calibri" pitchFamily="34" charset="0"/>
                <a:ea typeface="Calibri" pitchFamily="34" charset="-122"/>
                <a:cs typeface="Calibri" pitchFamily="34" charset="-120"/>
              </a:rPr>
              <a:t>What is it?</a:t>
            </a:r>
            <a:endParaRPr lang="en-US" sz="3200" dirty="0">
              <a:solidFill>
                <a:srgbClr val="10B981"/>
              </a:solidFill>
            </a:endParaRPr>
          </a:p>
        </p:txBody>
      </p:sp>
      <p:sp>
        <p:nvSpPr>
          <p:cNvPr id="8" name="Text 6">
            <a:extLst>
              <a:ext uri="{FF2B5EF4-FFF2-40B4-BE49-F238E27FC236}">
                <a16:creationId xmlns:a16="http://schemas.microsoft.com/office/drawing/2014/main" id="{BEA9AAE1-D343-E011-B62F-A2C33FCB58E5}"/>
              </a:ext>
            </a:extLst>
          </p:cNvPr>
          <p:cNvSpPr/>
          <p:nvPr/>
        </p:nvSpPr>
        <p:spPr>
          <a:xfrm>
            <a:off x="623424" y="1750091"/>
            <a:ext cx="5334900" cy="2194560"/>
          </a:xfrm>
          <a:prstGeom prst="rect">
            <a:avLst/>
          </a:prstGeom>
          <a:noFill/>
          <a:ln/>
        </p:spPr>
        <p:txBody>
          <a:bodyPr wrap="square" lIns="0" tIns="0" rIns="0" bIns="0" rtlCol="0" anchor="t"/>
          <a:lstStyle/>
          <a:p>
            <a:pPr marL="0" indent="0">
              <a:buNone/>
            </a:pPr>
            <a:r>
              <a:rPr lang="en-US" dirty="0">
                <a:solidFill>
                  <a:srgbClr val="D0D8E8"/>
                </a:solidFill>
                <a:latin typeface="Calibri Light" pitchFamily="34" charset="0"/>
                <a:ea typeface="Calibri Light" pitchFamily="34" charset="-122"/>
                <a:cs typeface="Calibri Light" pitchFamily="34" charset="-120"/>
              </a:rPr>
              <a:t>A derived class inherits attributes and methods from a base class, allowing code reuse and specialization.</a:t>
            </a:r>
            <a:endParaRPr lang="en-US" dirty="0"/>
          </a:p>
          <a:p>
            <a:pPr marL="0" indent="0">
              <a:buNone/>
            </a:pPr>
            <a:endParaRPr lang="en-US" dirty="0"/>
          </a:p>
          <a:p>
            <a:pPr marL="0" indent="0">
              <a:buNone/>
            </a:pPr>
            <a:r>
              <a:rPr lang="en-US" dirty="0">
                <a:solidFill>
                  <a:srgbClr val="D0D8E8"/>
                </a:solidFill>
                <a:latin typeface="Calibri Light" pitchFamily="34" charset="0"/>
                <a:ea typeface="Calibri Light" pitchFamily="34" charset="-122"/>
                <a:cs typeface="Calibri Light" pitchFamily="34" charset="-120"/>
              </a:rPr>
              <a:t>In our engine, Entity is the base class. Player, Enemy, Projectile and Obstacle all inherit from it — they automatically get position, velocity, health and all shared methods.</a:t>
            </a:r>
            <a:endParaRPr lang="en-US" dirty="0"/>
          </a:p>
        </p:txBody>
      </p:sp>
      <p:pic>
        <p:nvPicPr>
          <p:cNvPr id="18" name="Picture 17" descr="A screen shot of a computer program&#10;&#10;Description automatically generated">
            <a:extLst>
              <a:ext uri="{FF2B5EF4-FFF2-40B4-BE49-F238E27FC236}">
                <a16:creationId xmlns:a16="http://schemas.microsoft.com/office/drawing/2014/main" id="{697FCC32-0DA2-9B12-1968-C45082D29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3942" y="449007"/>
            <a:ext cx="6308460" cy="6475667"/>
          </a:xfrm>
          <a:prstGeom prst="rect">
            <a:avLst/>
          </a:prstGeom>
        </p:spPr>
      </p:pic>
      <p:sp>
        <p:nvSpPr>
          <p:cNvPr id="25" name="Shape 9">
            <a:extLst>
              <a:ext uri="{FF2B5EF4-FFF2-40B4-BE49-F238E27FC236}">
                <a16:creationId xmlns:a16="http://schemas.microsoft.com/office/drawing/2014/main" id="{0F2C98A9-BF2F-0668-A918-7CB01295EDBF}"/>
              </a:ext>
            </a:extLst>
          </p:cNvPr>
          <p:cNvSpPr/>
          <p:nvPr/>
        </p:nvSpPr>
        <p:spPr>
          <a:xfrm>
            <a:off x="3178625" y="5236566"/>
            <a:ext cx="1214662" cy="499535"/>
          </a:xfrm>
          <a:prstGeom prst="rect">
            <a:avLst/>
          </a:prstGeom>
          <a:solidFill>
            <a:srgbClr val="10B981">
              <a:alpha val="25000"/>
            </a:srgbClr>
          </a:solidFill>
          <a:ln w="12700">
            <a:solidFill>
              <a:srgbClr val="10B981"/>
            </a:solidFill>
            <a:prstDash val="solid"/>
          </a:ln>
        </p:spPr>
        <p:txBody>
          <a:bodyPr/>
          <a:lstStyle/>
          <a:p>
            <a:endParaRPr lang="en-US" dirty="0"/>
          </a:p>
        </p:txBody>
      </p:sp>
      <p:sp>
        <p:nvSpPr>
          <p:cNvPr id="26" name="Text 10">
            <a:extLst>
              <a:ext uri="{FF2B5EF4-FFF2-40B4-BE49-F238E27FC236}">
                <a16:creationId xmlns:a16="http://schemas.microsoft.com/office/drawing/2014/main" id="{7A417BE9-1FCC-66A8-4E51-7E9CB7AFE6EF}"/>
              </a:ext>
            </a:extLst>
          </p:cNvPr>
          <p:cNvSpPr/>
          <p:nvPr/>
        </p:nvSpPr>
        <p:spPr>
          <a:xfrm>
            <a:off x="542146" y="5273842"/>
            <a:ext cx="5623836" cy="336781"/>
          </a:xfrm>
          <a:prstGeom prst="rect">
            <a:avLst/>
          </a:prstGeom>
          <a:noFill/>
          <a:ln/>
        </p:spPr>
        <p:txBody>
          <a:bodyPr wrap="square" lIns="0" tIns="0" rIns="0" bIns="0" rtlCol="0" anchor="ctr"/>
          <a:lstStyle/>
          <a:p>
            <a:pPr marL="0" indent="0" algn="ctr">
              <a:buNone/>
            </a:pPr>
            <a:r>
              <a:rPr lang="en-US" sz="1600" b="1" dirty="0">
                <a:solidFill>
                  <a:srgbClr val="4ADE80"/>
                </a:solidFill>
                <a:latin typeface="Consolas" pitchFamily="34" charset="0"/>
                <a:ea typeface="Consolas" pitchFamily="34" charset="-122"/>
                <a:cs typeface="Consolas" pitchFamily="34" charset="-120"/>
              </a:rPr>
              <a:t>Player      Enemy      Projectile      Obstacle</a:t>
            </a:r>
            <a:endParaRPr lang="en-US" sz="1600" dirty="0"/>
          </a:p>
        </p:txBody>
      </p:sp>
      <p:cxnSp>
        <p:nvCxnSpPr>
          <p:cNvPr id="29" name="Straight Arrow Connector 28">
            <a:extLst>
              <a:ext uri="{FF2B5EF4-FFF2-40B4-BE49-F238E27FC236}">
                <a16:creationId xmlns:a16="http://schemas.microsoft.com/office/drawing/2014/main" id="{5F5CFCAE-A92A-8DEA-9883-F565370AE249}"/>
              </a:ext>
            </a:extLst>
          </p:cNvPr>
          <p:cNvCxnSpPr>
            <a:cxnSpLocks/>
            <a:stCxn id="23" idx="2"/>
            <a:endCxn id="25" idx="0"/>
          </p:cNvCxnSpPr>
          <p:nvPr/>
        </p:nvCxnSpPr>
        <p:spPr>
          <a:xfrm>
            <a:off x="3264469" y="4417051"/>
            <a:ext cx="521487" cy="819515"/>
          </a:xfrm>
          <a:prstGeom prst="straightConnector1">
            <a:avLst/>
          </a:prstGeom>
          <a:ln w="57150">
            <a:solidFill>
              <a:schemeClr val="tx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9A76CFD3-F72D-C271-A074-2731EFD424C5}"/>
              </a:ext>
            </a:extLst>
          </p:cNvPr>
          <p:cNvCxnSpPr>
            <a:cxnSpLocks/>
            <a:stCxn id="23" idx="2"/>
            <a:endCxn id="57" idx="0"/>
          </p:cNvCxnSpPr>
          <p:nvPr/>
        </p:nvCxnSpPr>
        <p:spPr>
          <a:xfrm>
            <a:off x="3264469" y="4417051"/>
            <a:ext cx="2217030" cy="819117"/>
          </a:xfrm>
          <a:prstGeom prst="straightConnector1">
            <a:avLst/>
          </a:prstGeom>
          <a:ln w="57150">
            <a:solidFill>
              <a:schemeClr val="tx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26F954DF-2DFF-8CEF-1CB5-76722B509ACB}"/>
              </a:ext>
            </a:extLst>
          </p:cNvPr>
          <p:cNvCxnSpPr>
            <a:cxnSpLocks/>
            <a:stCxn id="23" idx="2"/>
            <a:endCxn id="53" idx="0"/>
          </p:cNvCxnSpPr>
          <p:nvPr/>
        </p:nvCxnSpPr>
        <p:spPr>
          <a:xfrm flipH="1">
            <a:off x="2423766" y="4417051"/>
            <a:ext cx="840703" cy="819117"/>
          </a:xfrm>
          <a:prstGeom prst="straightConnector1">
            <a:avLst/>
          </a:prstGeom>
          <a:ln w="57150">
            <a:solidFill>
              <a:schemeClr val="tx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A1B1992-BE5F-453F-59A7-09E2002F6643}"/>
              </a:ext>
            </a:extLst>
          </p:cNvPr>
          <p:cNvCxnSpPr>
            <a:cxnSpLocks/>
            <a:stCxn id="23" idx="2"/>
            <a:endCxn id="56" idx="0"/>
          </p:cNvCxnSpPr>
          <p:nvPr/>
        </p:nvCxnSpPr>
        <p:spPr>
          <a:xfrm flipH="1">
            <a:off x="1176055" y="4417051"/>
            <a:ext cx="2088414" cy="819117"/>
          </a:xfrm>
          <a:prstGeom prst="straightConnector1">
            <a:avLst/>
          </a:prstGeom>
          <a:ln w="57150">
            <a:solidFill>
              <a:schemeClr val="tx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 name="Shape 9">
            <a:extLst>
              <a:ext uri="{FF2B5EF4-FFF2-40B4-BE49-F238E27FC236}">
                <a16:creationId xmlns:a16="http://schemas.microsoft.com/office/drawing/2014/main" id="{FDFA30B5-E5E3-DCAE-7ED1-9E40AACC4A3F}"/>
              </a:ext>
            </a:extLst>
          </p:cNvPr>
          <p:cNvSpPr/>
          <p:nvPr/>
        </p:nvSpPr>
        <p:spPr>
          <a:xfrm>
            <a:off x="1914409" y="5236168"/>
            <a:ext cx="1018713" cy="499535"/>
          </a:xfrm>
          <a:prstGeom prst="rect">
            <a:avLst/>
          </a:prstGeom>
          <a:solidFill>
            <a:srgbClr val="10B981">
              <a:alpha val="25000"/>
            </a:srgbClr>
          </a:solidFill>
          <a:ln w="12700">
            <a:solidFill>
              <a:srgbClr val="10B981"/>
            </a:solidFill>
            <a:prstDash val="solid"/>
          </a:ln>
        </p:spPr>
        <p:txBody>
          <a:bodyPr/>
          <a:lstStyle/>
          <a:p>
            <a:endParaRPr lang="en-US" dirty="0"/>
          </a:p>
        </p:txBody>
      </p:sp>
      <p:sp>
        <p:nvSpPr>
          <p:cNvPr id="56" name="Shape 9">
            <a:extLst>
              <a:ext uri="{FF2B5EF4-FFF2-40B4-BE49-F238E27FC236}">
                <a16:creationId xmlns:a16="http://schemas.microsoft.com/office/drawing/2014/main" id="{C7A73234-BD76-13C7-6833-E163807C88AE}"/>
              </a:ext>
            </a:extLst>
          </p:cNvPr>
          <p:cNvSpPr/>
          <p:nvPr/>
        </p:nvSpPr>
        <p:spPr>
          <a:xfrm>
            <a:off x="670136" y="5236168"/>
            <a:ext cx="1011837" cy="499535"/>
          </a:xfrm>
          <a:prstGeom prst="rect">
            <a:avLst/>
          </a:prstGeom>
          <a:solidFill>
            <a:srgbClr val="10B981">
              <a:alpha val="25000"/>
            </a:srgbClr>
          </a:solidFill>
          <a:ln w="12700">
            <a:solidFill>
              <a:srgbClr val="10B981"/>
            </a:solidFill>
            <a:prstDash val="solid"/>
          </a:ln>
        </p:spPr>
        <p:txBody>
          <a:bodyPr/>
          <a:lstStyle/>
          <a:p>
            <a:endParaRPr lang="en-US" dirty="0"/>
          </a:p>
        </p:txBody>
      </p:sp>
      <p:sp>
        <p:nvSpPr>
          <p:cNvPr id="57" name="Shape 9">
            <a:extLst>
              <a:ext uri="{FF2B5EF4-FFF2-40B4-BE49-F238E27FC236}">
                <a16:creationId xmlns:a16="http://schemas.microsoft.com/office/drawing/2014/main" id="{BC105151-A31A-A42F-9788-245840EBD11F}"/>
              </a:ext>
            </a:extLst>
          </p:cNvPr>
          <p:cNvSpPr/>
          <p:nvPr/>
        </p:nvSpPr>
        <p:spPr>
          <a:xfrm>
            <a:off x="4958170" y="5236168"/>
            <a:ext cx="1046657" cy="499535"/>
          </a:xfrm>
          <a:prstGeom prst="rect">
            <a:avLst/>
          </a:prstGeom>
          <a:solidFill>
            <a:srgbClr val="10B981">
              <a:alpha val="25000"/>
            </a:srgbClr>
          </a:solidFill>
          <a:ln w="12700">
            <a:solidFill>
              <a:srgbClr val="10B981"/>
            </a:solidFill>
            <a:prstDash val="solid"/>
          </a:ln>
        </p:spPr>
        <p:txBody>
          <a:bodyPr/>
          <a:lstStyle/>
          <a:p>
            <a:endParaRPr lang="en-US" dirty="0"/>
          </a:p>
        </p:txBody>
      </p:sp>
      <p:sp>
        <p:nvSpPr>
          <p:cNvPr id="23" name="Shape 7">
            <a:extLst>
              <a:ext uri="{FF2B5EF4-FFF2-40B4-BE49-F238E27FC236}">
                <a16:creationId xmlns:a16="http://schemas.microsoft.com/office/drawing/2014/main" id="{34CAED9C-99C0-45EA-6457-2EDCFCA52D8D}"/>
              </a:ext>
            </a:extLst>
          </p:cNvPr>
          <p:cNvSpPr/>
          <p:nvPr/>
        </p:nvSpPr>
        <p:spPr>
          <a:xfrm>
            <a:off x="1847209" y="3867832"/>
            <a:ext cx="2834519" cy="549219"/>
          </a:xfrm>
          <a:prstGeom prst="rect">
            <a:avLst/>
          </a:prstGeom>
          <a:solidFill>
            <a:srgbClr val="7C3AED">
              <a:alpha val="25000"/>
            </a:srgbClr>
          </a:solidFill>
          <a:ln w="12700">
            <a:solidFill>
              <a:srgbClr val="7C3AED"/>
            </a:solidFill>
            <a:prstDash val="solid"/>
          </a:ln>
        </p:spPr>
        <p:txBody>
          <a:bodyPr/>
          <a:lstStyle/>
          <a:p>
            <a:endParaRPr lang="en-US" dirty="0"/>
          </a:p>
        </p:txBody>
      </p:sp>
      <p:sp>
        <p:nvSpPr>
          <p:cNvPr id="24" name="Text 8">
            <a:extLst>
              <a:ext uri="{FF2B5EF4-FFF2-40B4-BE49-F238E27FC236}">
                <a16:creationId xmlns:a16="http://schemas.microsoft.com/office/drawing/2014/main" id="{2845D679-3DD5-0D31-2918-E50513A7A596}"/>
              </a:ext>
            </a:extLst>
          </p:cNvPr>
          <p:cNvSpPr/>
          <p:nvPr/>
        </p:nvSpPr>
        <p:spPr>
          <a:xfrm>
            <a:off x="1914625" y="3835499"/>
            <a:ext cx="2796951" cy="613884"/>
          </a:xfrm>
          <a:prstGeom prst="rect">
            <a:avLst/>
          </a:prstGeom>
          <a:noFill/>
          <a:ln/>
        </p:spPr>
        <p:txBody>
          <a:bodyPr wrap="square" lIns="0" tIns="0" rIns="0" bIns="0" rtlCol="0" anchor="ctr"/>
          <a:lstStyle/>
          <a:p>
            <a:pPr marL="0" indent="0" algn="ctr">
              <a:buNone/>
            </a:pPr>
            <a:r>
              <a:rPr lang="en-US" b="1" dirty="0">
                <a:solidFill>
                  <a:srgbClr val="7C3AED"/>
                </a:solidFill>
                <a:latin typeface="Consolas" pitchFamily="34" charset="0"/>
                <a:ea typeface="Consolas" pitchFamily="34" charset="-122"/>
                <a:cs typeface="Consolas" pitchFamily="34" charset="-120"/>
              </a:rPr>
              <a:t>Entity  (Base Class)</a:t>
            </a:r>
            <a:endParaRPr lang="en-US" dirty="0"/>
          </a:p>
        </p:txBody>
      </p:sp>
    </p:spTree>
    <p:extLst>
      <p:ext uri="{BB962C8B-B14F-4D97-AF65-F5344CB8AC3E}">
        <p14:creationId xmlns:p14="http://schemas.microsoft.com/office/powerpoint/2010/main" val="40450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71264528-1C0B-3FDD-7110-C2CFFEE3FAEA}"/>
              </a:ext>
            </a:extLst>
          </p:cNvPr>
          <p:cNvSpPr/>
          <p:nvPr/>
        </p:nvSpPr>
        <p:spPr>
          <a:xfrm>
            <a:off x="368472" y="1109472"/>
            <a:ext cx="5862784" cy="5134961"/>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29" name="Rectangle 28">
            <a:extLst>
              <a:ext uri="{FF2B5EF4-FFF2-40B4-BE49-F238E27FC236}">
                <a16:creationId xmlns:a16="http://schemas.microsoft.com/office/drawing/2014/main" id="{1EA92E22-43DF-749C-3946-2E0EF001AF8C}"/>
              </a:ext>
            </a:extLst>
          </p:cNvPr>
          <p:cNvSpPr/>
          <p:nvPr/>
        </p:nvSpPr>
        <p:spPr>
          <a:xfrm>
            <a:off x="6454919" y="1121899"/>
            <a:ext cx="5194935" cy="5122534"/>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2" name="Shape 0"/>
          <p:cNvSpPr/>
          <p:nvPr/>
        </p:nvSpPr>
        <p:spPr>
          <a:xfrm>
            <a:off x="487680" y="219456"/>
            <a:ext cx="45719" cy="618744"/>
          </a:xfrm>
          <a:prstGeom prst="rect">
            <a:avLst/>
          </a:prstGeom>
          <a:solidFill>
            <a:srgbClr val="AA81CA"/>
          </a:solidFill>
          <a:ln w="12700">
            <a:noFill/>
            <a:prstDash val="solid"/>
          </a:ln>
        </p:spPr>
        <p:txBody>
          <a:bodyPr/>
          <a:lstStyle/>
          <a:p>
            <a:endParaRPr lang="en-US" sz="2400"/>
          </a:p>
        </p:txBody>
      </p:sp>
      <p:sp>
        <p:nvSpPr>
          <p:cNvPr id="3" name="Text 1"/>
          <p:cNvSpPr/>
          <p:nvPr/>
        </p:nvSpPr>
        <p:spPr>
          <a:xfrm>
            <a:off x="634594" y="60735"/>
            <a:ext cx="10972800" cy="914400"/>
          </a:xfrm>
          <a:prstGeom prst="rect">
            <a:avLst/>
          </a:prstGeom>
          <a:noFill/>
          <a:ln/>
        </p:spPr>
        <p:txBody>
          <a:bodyPr wrap="square" lIns="0" tIns="0" rIns="0" bIns="0" rtlCol="0" anchor="ctr"/>
          <a:lstStyle/>
          <a:p>
            <a:r>
              <a:rPr lang="en-US" sz="4533" b="1" dirty="0">
                <a:solidFill>
                  <a:srgbClr val="FFFFFF"/>
                </a:solidFill>
                <a:latin typeface="Calibri" pitchFamily="34" charset="0"/>
                <a:ea typeface="Calibri" pitchFamily="34" charset="-122"/>
                <a:cs typeface="Calibri" pitchFamily="34" charset="-120"/>
              </a:rPr>
              <a:t>Overloading</a:t>
            </a:r>
            <a:endParaRPr lang="en-US" sz="4533" dirty="0"/>
          </a:p>
        </p:txBody>
      </p:sp>
      <p:sp>
        <p:nvSpPr>
          <p:cNvPr id="7" name="Text 5"/>
          <p:cNvSpPr/>
          <p:nvPr/>
        </p:nvSpPr>
        <p:spPr>
          <a:xfrm>
            <a:off x="510539" y="1169368"/>
            <a:ext cx="4511040" cy="487680"/>
          </a:xfrm>
          <a:prstGeom prst="rect">
            <a:avLst/>
          </a:prstGeom>
          <a:noFill/>
          <a:ln/>
        </p:spPr>
        <p:txBody>
          <a:bodyPr wrap="square" lIns="0" tIns="0" rIns="0" bIns="0" rtlCol="0" anchor="ctr"/>
          <a:lstStyle/>
          <a:p>
            <a:r>
              <a:rPr lang="en-US" sz="3200" b="1" dirty="0">
                <a:solidFill>
                  <a:srgbClr val="AA81CA"/>
                </a:solidFill>
                <a:latin typeface="Calibri" pitchFamily="34" charset="0"/>
                <a:ea typeface="Calibri" pitchFamily="34" charset="-122"/>
                <a:cs typeface="Calibri" pitchFamily="34" charset="-120"/>
              </a:rPr>
              <a:t>What is it?</a:t>
            </a:r>
            <a:endParaRPr lang="en-US" sz="3200" dirty="0">
              <a:solidFill>
                <a:srgbClr val="AA81CA"/>
              </a:solidFill>
            </a:endParaRPr>
          </a:p>
        </p:txBody>
      </p:sp>
      <p:sp>
        <p:nvSpPr>
          <p:cNvPr id="8" name="Text 6"/>
          <p:cNvSpPr/>
          <p:nvPr/>
        </p:nvSpPr>
        <p:spPr>
          <a:xfrm>
            <a:off x="510538" y="1662074"/>
            <a:ext cx="5469029" cy="2193643"/>
          </a:xfrm>
          <a:prstGeom prst="rect">
            <a:avLst/>
          </a:prstGeom>
          <a:noFill/>
          <a:ln/>
        </p:spPr>
        <p:txBody>
          <a:bodyPr wrap="square" lIns="0" tIns="0" rIns="0" bIns="0" rtlCol="0" anchor="t"/>
          <a:lstStyle/>
          <a:p>
            <a:r>
              <a:rPr lang="en-US" sz="2000" dirty="0">
                <a:solidFill>
                  <a:srgbClr val="D0D8E8"/>
                </a:solidFill>
                <a:latin typeface="Calibri Light" pitchFamily="34" charset="0"/>
                <a:ea typeface="Calibri Light" pitchFamily="34" charset="-122"/>
                <a:cs typeface="Calibri Light" pitchFamily="34" charset="-120"/>
              </a:rPr>
              <a:t>Overloading means defining multiple versions of a function or operator with the same name but different parameters.</a:t>
            </a:r>
            <a:endParaRPr lang="en-US" sz="2000" dirty="0"/>
          </a:p>
          <a:p>
            <a:endParaRPr lang="en-US" sz="2000" dirty="0"/>
          </a:p>
          <a:p>
            <a:r>
              <a:rPr lang="en-US" sz="2000" dirty="0">
                <a:solidFill>
                  <a:srgbClr val="D0D8E8"/>
                </a:solidFill>
                <a:latin typeface="Calibri Light" pitchFamily="34" charset="0"/>
                <a:ea typeface="Calibri Light" pitchFamily="34" charset="-122"/>
                <a:cs typeface="Calibri Light" pitchFamily="34" charset="-120"/>
              </a:rPr>
              <a:t>In our engine, the Vec2 struct overloads 5 operators so that positions and velocities can be added, subtracted, scaled, and compared naturally in code:</a:t>
            </a:r>
            <a:endParaRPr lang="en-US" sz="2000" dirty="0"/>
          </a:p>
        </p:txBody>
      </p:sp>
      <p:sp>
        <p:nvSpPr>
          <p:cNvPr id="10" name="Text 8"/>
          <p:cNvSpPr/>
          <p:nvPr/>
        </p:nvSpPr>
        <p:spPr>
          <a:xfrm>
            <a:off x="759614" y="3863334"/>
            <a:ext cx="1584960" cy="341376"/>
          </a:xfrm>
          <a:prstGeom prst="rect">
            <a:avLst/>
          </a:prstGeom>
          <a:noFill/>
          <a:ln/>
        </p:spPr>
        <p:txBody>
          <a:bodyPr wrap="square" lIns="0" tIns="0" rIns="0" bIns="0" rtlCol="0" anchor="ctr"/>
          <a:lstStyle/>
          <a:p>
            <a:r>
              <a:rPr lang="en-US" b="1" dirty="0">
                <a:solidFill>
                  <a:srgbClr val="AA81CA"/>
                </a:solidFill>
                <a:latin typeface="Consolas" pitchFamily="34" charset="0"/>
                <a:ea typeface="Consolas" pitchFamily="34" charset="-122"/>
                <a:cs typeface="Consolas" pitchFamily="34" charset="-120"/>
              </a:rPr>
              <a:t>operator+</a:t>
            </a:r>
            <a:endParaRPr lang="en-US" dirty="0">
              <a:solidFill>
                <a:srgbClr val="AA81CA"/>
              </a:solidFill>
            </a:endParaRPr>
          </a:p>
        </p:txBody>
      </p:sp>
      <p:sp>
        <p:nvSpPr>
          <p:cNvPr id="11" name="Text 9"/>
          <p:cNvSpPr/>
          <p:nvPr/>
        </p:nvSpPr>
        <p:spPr>
          <a:xfrm>
            <a:off x="2405534" y="3863334"/>
            <a:ext cx="2743200" cy="34137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    add positions</a:t>
            </a:r>
            <a:endParaRPr lang="en-US" sz="1600" dirty="0"/>
          </a:p>
        </p:txBody>
      </p:sp>
      <p:sp>
        <p:nvSpPr>
          <p:cNvPr id="13" name="Text 11"/>
          <p:cNvSpPr/>
          <p:nvPr/>
        </p:nvSpPr>
        <p:spPr>
          <a:xfrm>
            <a:off x="759614" y="4302246"/>
            <a:ext cx="1584960" cy="341376"/>
          </a:xfrm>
          <a:prstGeom prst="rect">
            <a:avLst/>
          </a:prstGeom>
          <a:noFill/>
          <a:ln/>
        </p:spPr>
        <p:txBody>
          <a:bodyPr wrap="square" lIns="0" tIns="0" rIns="0" bIns="0" rtlCol="0" anchor="ctr"/>
          <a:lstStyle/>
          <a:p>
            <a:r>
              <a:rPr lang="en-US" b="1" dirty="0">
                <a:solidFill>
                  <a:srgbClr val="AA81CA"/>
                </a:solidFill>
                <a:latin typeface="Consolas" pitchFamily="34" charset="0"/>
              </a:rPr>
              <a:t>operator-</a:t>
            </a:r>
          </a:p>
        </p:txBody>
      </p:sp>
      <p:sp>
        <p:nvSpPr>
          <p:cNvPr id="14" name="Text 12"/>
          <p:cNvSpPr/>
          <p:nvPr/>
        </p:nvSpPr>
        <p:spPr>
          <a:xfrm>
            <a:off x="2405534" y="4302246"/>
            <a:ext cx="2743200" cy="34137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    distance / direction</a:t>
            </a:r>
            <a:endParaRPr lang="en-US" sz="1600" dirty="0"/>
          </a:p>
        </p:txBody>
      </p:sp>
      <p:sp>
        <p:nvSpPr>
          <p:cNvPr id="16" name="Text 14"/>
          <p:cNvSpPr/>
          <p:nvPr/>
        </p:nvSpPr>
        <p:spPr>
          <a:xfrm>
            <a:off x="759614" y="4741158"/>
            <a:ext cx="1584960" cy="341376"/>
          </a:xfrm>
          <a:prstGeom prst="rect">
            <a:avLst/>
          </a:prstGeom>
          <a:noFill/>
          <a:ln/>
        </p:spPr>
        <p:txBody>
          <a:bodyPr wrap="square" lIns="0" tIns="0" rIns="0" bIns="0" rtlCol="0" anchor="ctr"/>
          <a:lstStyle/>
          <a:p>
            <a:r>
              <a:rPr lang="en-US" b="1" dirty="0">
                <a:solidFill>
                  <a:srgbClr val="AA81CA"/>
                </a:solidFill>
                <a:latin typeface="Consolas" pitchFamily="34" charset="0"/>
              </a:rPr>
              <a:t>operator*</a:t>
            </a:r>
          </a:p>
        </p:txBody>
      </p:sp>
      <p:sp>
        <p:nvSpPr>
          <p:cNvPr id="17" name="Text 15"/>
          <p:cNvSpPr/>
          <p:nvPr/>
        </p:nvSpPr>
        <p:spPr>
          <a:xfrm>
            <a:off x="2405534" y="4741158"/>
            <a:ext cx="2743200" cy="34137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    scale velocity</a:t>
            </a:r>
            <a:endParaRPr lang="en-US" sz="1600" dirty="0"/>
          </a:p>
        </p:txBody>
      </p:sp>
      <p:sp>
        <p:nvSpPr>
          <p:cNvPr id="19" name="Text 17"/>
          <p:cNvSpPr/>
          <p:nvPr/>
        </p:nvSpPr>
        <p:spPr>
          <a:xfrm>
            <a:off x="759614" y="5180070"/>
            <a:ext cx="1584960" cy="341376"/>
          </a:xfrm>
          <a:prstGeom prst="rect">
            <a:avLst/>
          </a:prstGeom>
          <a:noFill/>
          <a:ln/>
        </p:spPr>
        <p:txBody>
          <a:bodyPr wrap="square" lIns="0" tIns="0" rIns="0" bIns="0" rtlCol="0" anchor="ctr"/>
          <a:lstStyle/>
          <a:p>
            <a:r>
              <a:rPr lang="en-US" b="1" dirty="0">
                <a:solidFill>
                  <a:srgbClr val="AA81CA"/>
                </a:solidFill>
                <a:latin typeface="Consolas" pitchFamily="34" charset="0"/>
              </a:rPr>
              <a:t>operator==</a:t>
            </a:r>
          </a:p>
        </p:txBody>
      </p:sp>
      <p:sp>
        <p:nvSpPr>
          <p:cNvPr id="20" name="Text 18"/>
          <p:cNvSpPr/>
          <p:nvPr/>
        </p:nvSpPr>
        <p:spPr>
          <a:xfrm>
            <a:off x="2405534" y="5180070"/>
            <a:ext cx="2743200" cy="34137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    compare positions</a:t>
            </a:r>
            <a:endParaRPr lang="en-US" sz="1600" dirty="0"/>
          </a:p>
        </p:txBody>
      </p:sp>
      <p:sp>
        <p:nvSpPr>
          <p:cNvPr id="22" name="Text 20"/>
          <p:cNvSpPr/>
          <p:nvPr/>
        </p:nvSpPr>
        <p:spPr>
          <a:xfrm>
            <a:off x="759614" y="5618982"/>
            <a:ext cx="1584960" cy="341376"/>
          </a:xfrm>
          <a:prstGeom prst="rect">
            <a:avLst/>
          </a:prstGeom>
          <a:noFill/>
          <a:ln/>
        </p:spPr>
        <p:txBody>
          <a:bodyPr wrap="square" lIns="0" tIns="0" rIns="0" bIns="0" rtlCol="0" anchor="ctr"/>
          <a:lstStyle/>
          <a:p>
            <a:r>
              <a:rPr lang="en-US" b="1" dirty="0">
                <a:solidFill>
                  <a:srgbClr val="AA81CA"/>
                </a:solidFill>
                <a:latin typeface="Consolas" pitchFamily="34" charset="0"/>
              </a:rPr>
              <a:t>operator!=</a:t>
            </a:r>
          </a:p>
        </p:txBody>
      </p:sp>
      <p:sp>
        <p:nvSpPr>
          <p:cNvPr id="23" name="Text 21"/>
          <p:cNvSpPr/>
          <p:nvPr/>
        </p:nvSpPr>
        <p:spPr>
          <a:xfrm>
            <a:off x="2405534" y="5618982"/>
            <a:ext cx="2743200" cy="34137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    check movement</a:t>
            </a:r>
            <a:endParaRPr lang="en-US" sz="1600" dirty="0"/>
          </a:p>
        </p:txBody>
      </p:sp>
      <p:pic>
        <p:nvPicPr>
          <p:cNvPr id="26" name="Picture 25" descr="A screen shot of a computer program&#10;&#10;Description automatically generated">
            <a:extLst>
              <a:ext uri="{FF2B5EF4-FFF2-40B4-BE49-F238E27FC236}">
                <a16:creationId xmlns:a16="http://schemas.microsoft.com/office/drawing/2014/main" id="{4F047959-6348-B36C-C8C1-084917A48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0994" y="727881"/>
            <a:ext cx="5862784" cy="5910569"/>
          </a:xfrm>
          <a:prstGeom prst="rect">
            <a:avLst/>
          </a:prstGeom>
        </p:spPr>
      </p:pic>
      <p:sp>
        <p:nvSpPr>
          <p:cNvPr id="31" name="Shape 0">
            <a:extLst>
              <a:ext uri="{FF2B5EF4-FFF2-40B4-BE49-F238E27FC236}">
                <a16:creationId xmlns:a16="http://schemas.microsoft.com/office/drawing/2014/main" id="{22E3F8C1-FF8A-181F-6D46-1B89AA272964}"/>
              </a:ext>
            </a:extLst>
          </p:cNvPr>
          <p:cNvSpPr/>
          <p:nvPr/>
        </p:nvSpPr>
        <p:spPr>
          <a:xfrm>
            <a:off x="634594" y="3936486"/>
            <a:ext cx="45719" cy="2023872"/>
          </a:xfrm>
          <a:prstGeom prst="rect">
            <a:avLst/>
          </a:prstGeom>
          <a:solidFill>
            <a:srgbClr val="AA81CA"/>
          </a:solidFill>
          <a:ln w="12700">
            <a:solidFill>
              <a:srgbClr val="AA81CA"/>
            </a:solidFill>
            <a:prstDash val="solid"/>
          </a:ln>
        </p:spPr>
        <p:txBody>
          <a:bodyPr/>
          <a:lstStyle/>
          <a:p>
            <a:endParaRPr lang="en-US" sz="2400"/>
          </a:p>
        </p:txBody>
      </p:sp>
      <p:cxnSp>
        <p:nvCxnSpPr>
          <p:cNvPr id="32" name="Straight Connector 31">
            <a:extLst>
              <a:ext uri="{FF2B5EF4-FFF2-40B4-BE49-F238E27FC236}">
                <a16:creationId xmlns:a16="http://schemas.microsoft.com/office/drawing/2014/main" id="{2352B3A7-B1E0-5A69-9E35-B39D9E461D09}"/>
              </a:ext>
            </a:extLst>
          </p:cNvPr>
          <p:cNvCxnSpPr/>
          <p:nvPr/>
        </p:nvCxnSpPr>
        <p:spPr>
          <a:xfrm>
            <a:off x="533399" y="4302246"/>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FD042AF-A551-BF3F-66D4-01C74C3615EF}"/>
              </a:ext>
            </a:extLst>
          </p:cNvPr>
          <p:cNvCxnSpPr/>
          <p:nvPr/>
        </p:nvCxnSpPr>
        <p:spPr>
          <a:xfrm>
            <a:off x="487680" y="4741158"/>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2A78E74-E239-8801-F579-659C5E787D59}"/>
              </a:ext>
            </a:extLst>
          </p:cNvPr>
          <p:cNvCxnSpPr/>
          <p:nvPr/>
        </p:nvCxnSpPr>
        <p:spPr>
          <a:xfrm>
            <a:off x="533399" y="5180070"/>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27F38A8-025F-AE1A-C1C6-AE0E19E1E147}"/>
              </a:ext>
            </a:extLst>
          </p:cNvPr>
          <p:cNvCxnSpPr/>
          <p:nvPr/>
        </p:nvCxnSpPr>
        <p:spPr>
          <a:xfrm>
            <a:off x="368472" y="5618982"/>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C12A395-2FFE-6085-13CF-026992DDD486}"/>
              </a:ext>
            </a:extLst>
          </p:cNvPr>
          <p:cNvSpPr/>
          <p:nvPr/>
        </p:nvSpPr>
        <p:spPr>
          <a:xfrm>
            <a:off x="6420953" y="1187578"/>
            <a:ext cx="5399572" cy="5221448"/>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29" name="Rectangle 28">
            <a:extLst>
              <a:ext uri="{FF2B5EF4-FFF2-40B4-BE49-F238E27FC236}">
                <a16:creationId xmlns:a16="http://schemas.microsoft.com/office/drawing/2014/main" id="{237DE218-334A-718E-34AC-FA718CB26BCB}"/>
              </a:ext>
            </a:extLst>
          </p:cNvPr>
          <p:cNvSpPr/>
          <p:nvPr/>
        </p:nvSpPr>
        <p:spPr>
          <a:xfrm>
            <a:off x="177567" y="1187578"/>
            <a:ext cx="6070831" cy="5221448"/>
          </a:xfrm>
          <a:prstGeom prst="rect">
            <a:avLst/>
          </a:prstGeom>
          <a:solidFill>
            <a:srgbClr val="1A1B28"/>
          </a:solidFill>
          <a:ln w="3810">
            <a:solidFill>
              <a:srgbClr val="FFFFFF">
                <a:alpha val="10000"/>
              </a:srgbClr>
            </a:solidFill>
            <a:prstDash val="solid"/>
          </a:ln>
        </p:spPr>
        <p:txBody>
          <a:bodyPr/>
          <a:lstStyle/>
          <a:p>
            <a:endParaRPr lang="en-US" dirty="0">
              <a:solidFill>
                <a:schemeClr val="tx1"/>
              </a:solidFill>
            </a:endParaRPr>
          </a:p>
        </p:txBody>
      </p:sp>
      <p:sp>
        <p:nvSpPr>
          <p:cNvPr id="3" name="Text 1"/>
          <p:cNvSpPr/>
          <p:nvPr/>
        </p:nvSpPr>
        <p:spPr>
          <a:xfrm>
            <a:off x="508636" y="227273"/>
            <a:ext cx="2727758" cy="624078"/>
          </a:xfrm>
          <a:prstGeom prst="rect">
            <a:avLst/>
          </a:prstGeom>
          <a:noFill/>
          <a:ln/>
        </p:spPr>
        <p:txBody>
          <a:bodyPr wrap="square" lIns="0" tIns="0" rIns="0" bIns="0" rtlCol="0" anchor="ctr"/>
          <a:lstStyle/>
          <a:p>
            <a:r>
              <a:rPr lang="en-US" sz="4533" b="1" dirty="0">
                <a:solidFill>
                  <a:srgbClr val="FFFFFF"/>
                </a:solidFill>
                <a:latin typeface="Calibri" pitchFamily="34" charset="0"/>
                <a:ea typeface="Calibri" pitchFamily="34" charset="-122"/>
                <a:cs typeface="Calibri" pitchFamily="34" charset="-120"/>
              </a:rPr>
              <a:t>Overriding</a:t>
            </a:r>
            <a:endParaRPr lang="en-US" sz="4533" dirty="0"/>
          </a:p>
        </p:txBody>
      </p:sp>
      <p:sp>
        <p:nvSpPr>
          <p:cNvPr id="7" name="Text 5"/>
          <p:cNvSpPr/>
          <p:nvPr/>
        </p:nvSpPr>
        <p:spPr>
          <a:xfrm>
            <a:off x="371475" y="1262175"/>
            <a:ext cx="4511040" cy="487680"/>
          </a:xfrm>
          <a:prstGeom prst="rect">
            <a:avLst/>
          </a:prstGeom>
          <a:noFill/>
          <a:ln/>
        </p:spPr>
        <p:txBody>
          <a:bodyPr wrap="square" lIns="0" tIns="0" rIns="0" bIns="0" rtlCol="0" anchor="ctr"/>
          <a:lstStyle/>
          <a:p>
            <a:r>
              <a:rPr lang="en-US" sz="3200" b="1" dirty="0">
                <a:solidFill>
                  <a:srgbClr val="00D4FF"/>
                </a:solidFill>
                <a:latin typeface="Calibri" pitchFamily="34" charset="0"/>
                <a:ea typeface="Calibri" pitchFamily="34" charset="-122"/>
                <a:cs typeface="Calibri" pitchFamily="34" charset="-120"/>
              </a:rPr>
              <a:t>What is it?</a:t>
            </a:r>
            <a:endParaRPr lang="en-US" sz="3200" dirty="0"/>
          </a:p>
        </p:txBody>
      </p:sp>
      <p:sp>
        <p:nvSpPr>
          <p:cNvPr id="8" name="Text 6"/>
          <p:cNvSpPr/>
          <p:nvPr/>
        </p:nvSpPr>
        <p:spPr>
          <a:xfrm>
            <a:off x="371475" y="1700784"/>
            <a:ext cx="5608320" cy="2316480"/>
          </a:xfrm>
          <a:prstGeom prst="rect">
            <a:avLst/>
          </a:prstGeom>
          <a:noFill/>
          <a:ln/>
        </p:spPr>
        <p:txBody>
          <a:bodyPr wrap="square" lIns="0" tIns="0" rIns="0" bIns="0" rtlCol="0" anchor="t"/>
          <a:lstStyle/>
          <a:p>
            <a:r>
              <a:rPr lang="en-US" sz="2000" dirty="0">
                <a:solidFill>
                  <a:srgbClr val="D0D8E8"/>
                </a:solidFill>
                <a:latin typeface="Calibri Light" pitchFamily="34" charset="0"/>
                <a:ea typeface="Calibri Light" pitchFamily="34" charset="-122"/>
                <a:cs typeface="Calibri Light" pitchFamily="34" charset="-120"/>
              </a:rPr>
              <a:t>Overriding means redefining a virtual method from the base class inside a derived class to give it a different behavior.</a:t>
            </a:r>
            <a:endParaRPr lang="ar-EG" sz="2000" dirty="0">
              <a:solidFill>
                <a:srgbClr val="D0D8E8"/>
              </a:solidFill>
              <a:latin typeface="Calibri Light" pitchFamily="34" charset="0"/>
              <a:ea typeface="Calibri Light" pitchFamily="34" charset="-122"/>
              <a:cs typeface="Calibri Light" pitchFamily="34" charset="-120"/>
            </a:endParaRPr>
          </a:p>
          <a:p>
            <a:endParaRPr lang="en-US" sz="2000" dirty="0"/>
          </a:p>
          <a:p>
            <a:r>
              <a:rPr lang="en-US" sz="2000" dirty="0">
                <a:solidFill>
                  <a:srgbClr val="D0D8E8"/>
                </a:solidFill>
                <a:latin typeface="Calibri Light" pitchFamily="34" charset="0"/>
                <a:ea typeface="Calibri Light" pitchFamily="34" charset="-122"/>
                <a:cs typeface="Calibri Light" pitchFamily="34" charset="-120"/>
              </a:rPr>
              <a:t>In our engine, every Entity has virtual move() and onCollision(). Each derived class overrides them differently:</a:t>
            </a:r>
            <a:endParaRPr lang="en-US" sz="2000" dirty="0"/>
          </a:p>
        </p:txBody>
      </p:sp>
      <p:sp>
        <p:nvSpPr>
          <p:cNvPr id="10" name="Text 8"/>
          <p:cNvSpPr/>
          <p:nvPr/>
        </p:nvSpPr>
        <p:spPr>
          <a:xfrm>
            <a:off x="686906" y="4194995"/>
            <a:ext cx="4389120" cy="316992"/>
          </a:xfrm>
          <a:prstGeom prst="rect">
            <a:avLst/>
          </a:prstGeom>
          <a:noFill/>
          <a:ln/>
        </p:spPr>
        <p:txBody>
          <a:bodyPr wrap="square" lIns="0" tIns="0" rIns="0" bIns="0" rtlCol="0" anchor="ctr"/>
          <a:lstStyle/>
          <a:p>
            <a:r>
              <a:rPr lang="en-US" sz="2000" b="1" dirty="0">
                <a:solidFill>
                  <a:srgbClr val="00D4FF"/>
                </a:solidFill>
                <a:latin typeface="Consolas" pitchFamily="34" charset="0"/>
                <a:ea typeface="Consolas" pitchFamily="34" charset="-122"/>
                <a:cs typeface="Consolas" pitchFamily="34" charset="-120"/>
              </a:rPr>
              <a:t>Player::move()</a:t>
            </a:r>
            <a:endParaRPr lang="en-US" sz="2000" dirty="0"/>
          </a:p>
        </p:txBody>
      </p:sp>
      <p:sp>
        <p:nvSpPr>
          <p:cNvPr id="11" name="Text 9"/>
          <p:cNvSpPr/>
          <p:nvPr/>
        </p:nvSpPr>
        <p:spPr>
          <a:xfrm>
            <a:off x="3236394" y="4246478"/>
            <a:ext cx="4389120" cy="21945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slides left/right, applies gravity</a:t>
            </a:r>
            <a:endParaRPr lang="en-US" sz="1600" dirty="0"/>
          </a:p>
        </p:txBody>
      </p:sp>
      <p:sp>
        <p:nvSpPr>
          <p:cNvPr id="13" name="Text 11"/>
          <p:cNvSpPr/>
          <p:nvPr/>
        </p:nvSpPr>
        <p:spPr>
          <a:xfrm>
            <a:off x="686906" y="4598738"/>
            <a:ext cx="4389120" cy="316992"/>
          </a:xfrm>
          <a:prstGeom prst="rect">
            <a:avLst/>
          </a:prstGeom>
          <a:noFill/>
          <a:ln/>
        </p:spPr>
        <p:txBody>
          <a:bodyPr wrap="square" lIns="0" tIns="0" rIns="0" bIns="0" rtlCol="0" anchor="ctr"/>
          <a:lstStyle/>
          <a:p>
            <a:r>
              <a:rPr lang="en-US" sz="2000" b="1" dirty="0">
                <a:solidFill>
                  <a:srgbClr val="00D4FF"/>
                </a:solidFill>
                <a:latin typeface="Consolas" pitchFamily="34" charset="0"/>
                <a:ea typeface="Consolas" pitchFamily="34" charset="-122"/>
                <a:cs typeface="Consolas" pitchFamily="34" charset="-120"/>
              </a:rPr>
              <a:t>Enemy::move()</a:t>
            </a:r>
            <a:endParaRPr lang="en-US" sz="2000" dirty="0"/>
          </a:p>
        </p:txBody>
      </p:sp>
      <p:sp>
        <p:nvSpPr>
          <p:cNvPr id="14" name="Text 12"/>
          <p:cNvSpPr/>
          <p:nvPr/>
        </p:nvSpPr>
        <p:spPr>
          <a:xfrm>
            <a:off x="3253739" y="4685198"/>
            <a:ext cx="4389120" cy="21945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moves left with random vertical drift</a:t>
            </a:r>
            <a:endParaRPr lang="en-US" sz="1600" dirty="0"/>
          </a:p>
        </p:txBody>
      </p:sp>
      <p:sp>
        <p:nvSpPr>
          <p:cNvPr id="16" name="Text 14"/>
          <p:cNvSpPr/>
          <p:nvPr/>
        </p:nvSpPr>
        <p:spPr>
          <a:xfrm>
            <a:off x="686906" y="5032491"/>
            <a:ext cx="4389120" cy="316992"/>
          </a:xfrm>
          <a:prstGeom prst="rect">
            <a:avLst/>
          </a:prstGeom>
          <a:noFill/>
          <a:ln/>
        </p:spPr>
        <p:txBody>
          <a:bodyPr wrap="square" lIns="0" tIns="0" rIns="0" bIns="0" rtlCol="0" anchor="ctr"/>
          <a:lstStyle/>
          <a:p>
            <a:r>
              <a:rPr lang="en-US" b="1" dirty="0">
                <a:solidFill>
                  <a:srgbClr val="00D4FF"/>
                </a:solidFill>
                <a:latin typeface="Consolas" pitchFamily="34" charset="0"/>
                <a:ea typeface="Consolas" pitchFamily="34" charset="-122"/>
                <a:cs typeface="Consolas" pitchFamily="34" charset="-120"/>
              </a:rPr>
              <a:t>Projectile::move()</a:t>
            </a:r>
            <a:endParaRPr lang="en-US" dirty="0"/>
          </a:p>
        </p:txBody>
      </p:sp>
      <p:sp>
        <p:nvSpPr>
          <p:cNvPr id="17" name="Text 15"/>
          <p:cNvSpPr/>
          <p:nvPr/>
        </p:nvSpPr>
        <p:spPr>
          <a:xfrm>
            <a:off x="3253739" y="5064749"/>
            <a:ext cx="4389120" cy="21945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travels by its own velocity vector</a:t>
            </a:r>
            <a:endParaRPr lang="en-US" sz="1600" dirty="0"/>
          </a:p>
        </p:txBody>
      </p:sp>
      <p:sp>
        <p:nvSpPr>
          <p:cNvPr id="19" name="Text 17"/>
          <p:cNvSpPr/>
          <p:nvPr/>
        </p:nvSpPr>
        <p:spPr>
          <a:xfrm>
            <a:off x="686906" y="5536588"/>
            <a:ext cx="4389120" cy="316992"/>
          </a:xfrm>
          <a:prstGeom prst="rect">
            <a:avLst/>
          </a:prstGeom>
          <a:noFill/>
          <a:ln/>
        </p:spPr>
        <p:txBody>
          <a:bodyPr wrap="square" lIns="0" tIns="0" rIns="0" bIns="0" rtlCol="0" anchor="ctr"/>
          <a:lstStyle/>
          <a:p>
            <a:r>
              <a:rPr lang="en-US" b="1" dirty="0">
                <a:solidFill>
                  <a:srgbClr val="00D4FF"/>
                </a:solidFill>
                <a:latin typeface="Consolas" pitchFamily="34" charset="0"/>
                <a:ea typeface="Consolas" pitchFamily="34" charset="-122"/>
                <a:cs typeface="Consolas" pitchFamily="34" charset="-120"/>
              </a:rPr>
              <a:t>Obstacle::move()</a:t>
            </a:r>
            <a:endParaRPr lang="en-US" dirty="0"/>
          </a:p>
        </p:txBody>
      </p:sp>
      <p:sp>
        <p:nvSpPr>
          <p:cNvPr id="20" name="Text 18"/>
          <p:cNvSpPr/>
          <p:nvPr/>
        </p:nvSpPr>
        <p:spPr>
          <a:xfrm>
            <a:off x="3253739" y="5542905"/>
            <a:ext cx="4389120" cy="219456"/>
          </a:xfrm>
          <a:prstGeom prst="rect">
            <a:avLst/>
          </a:prstGeom>
          <a:noFill/>
          <a:ln/>
        </p:spPr>
        <p:txBody>
          <a:bodyPr wrap="square" lIns="0" tIns="0" rIns="0" bIns="0" rtlCol="0" anchor="ctr"/>
          <a:lstStyle/>
          <a:p>
            <a:r>
              <a:rPr lang="en-US" sz="1600" dirty="0">
                <a:solidFill>
                  <a:srgbClr val="7A8599"/>
                </a:solidFill>
                <a:latin typeface="Calibri Light" pitchFamily="34" charset="0"/>
                <a:ea typeface="Calibri Light" pitchFamily="34" charset="-122"/>
                <a:cs typeface="Calibri Light" pitchFamily="34" charset="-120"/>
              </a:rPr>
              <a:t>does nothing — static object</a:t>
            </a:r>
            <a:endParaRPr lang="en-US" sz="1600" dirty="0"/>
          </a:p>
        </p:txBody>
      </p:sp>
      <p:pic>
        <p:nvPicPr>
          <p:cNvPr id="22" name="Image 0" descr="/home/claude/carbon_7.png"/>
          <p:cNvPicPr>
            <a:picLocks noChangeAspect="1"/>
          </p:cNvPicPr>
          <p:nvPr/>
        </p:nvPicPr>
        <p:blipFill>
          <a:blip r:embed="rId3"/>
          <a:stretch>
            <a:fillRect/>
          </a:stretch>
        </p:blipFill>
        <p:spPr>
          <a:xfrm>
            <a:off x="6087576" y="990332"/>
            <a:ext cx="6070831" cy="5615940"/>
          </a:xfrm>
          <a:prstGeom prst="rect">
            <a:avLst/>
          </a:prstGeom>
        </p:spPr>
      </p:pic>
      <p:cxnSp>
        <p:nvCxnSpPr>
          <p:cNvPr id="24" name="Straight Connector 23">
            <a:extLst>
              <a:ext uri="{FF2B5EF4-FFF2-40B4-BE49-F238E27FC236}">
                <a16:creationId xmlns:a16="http://schemas.microsoft.com/office/drawing/2014/main" id="{81F4D7BB-9C27-5FA3-9101-58CD61A74CB5}"/>
              </a:ext>
            </a:extLst>
          </p:cNvPr>
          <p:cNvCxnSpPr/>
          <p:nvPr/>
        </p:nvCxnSpPr>
        <p:spPr>
          <a:xfrm>
            <a:off x="371475" y="252222"/>
            <a:ext cx="0" cy="624078"/>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9A1D15A-82CB-6563-F56D-2BF87F2E75B8}"/>
              </a:ext>
            </a:extLst>
          </p:cNvPr>
          <p:cNvCxnSpPr>
            <a:cxnSpLocks/>
          </p:cNvCxnSpPr>
          <p:nvPr/>
        </p:nvCxnSpPr>
        <p:spPr>
          <a:xfrm>
            <a:off x="514350" y="4194995"/>
            <a:ext cx="0" cy="1658585"/>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8B3692E-0DE7-E672-F2FA-FB0DF9EF7708}"/>
              </a:ext>
            </a:extLst>
          </p:cNvPr>
          <p:cNvCxnSpPr/>
          <p:nvPr/>
        </p:nvCxnSpPr>
        <p:spPr>
          <a:xfrm>
            <a:off x="339488" y="4541285"/>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4E0B35D-83D6-DD0A-C1CA-CC11FC890F49}"/>
              </a:ext>
            </a:extLst>
          </p:cNvPr>
          <p:cNvCxnSpPr/>
          <p:nvPr/>
        </p:nvCxnSpPr>
        <p:spPr>
          <a:xfrm>
            <a:off x="276225" y="5023386"/>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0556F2B-6ED9-65DE-36F0-34DD55BE29C8}"/>
              </a:ext>
            </a:extLst>
          </p:cNvPr>
          <p:cNvCxnSpPr/>
          <p:nvPr/>
        </p:nvCxnSpPr>
        <p:spPr>
          <a:xfrm>
            <a:off x="339488" y="5455685"/>
            <a:ext cx="5480283" cy="0"/>
          </a:xfrm>
          <a:prstGeom prst="line">
            <a:avLst/>
          </a:prstGeom>
          <a:ln w="165100">
            <a:solidFill>
              <a:srgbClr val="1A1B2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66700" y="64008"/>
            <a:ext cx="10972800" cy="1018032"/>
          </a:xfrm>
          <a:prstGeom prst="rect">
            <a:avLst/>
          </a:prstGeom>
          <a:noFill/>
          <a:ln/>
        </p:spPr>
        <p:txBody>
          <a:bodyPr wrap="square" lIns="0" tIns="0" rIns="0" bIns="0" rtlCol="0" anchor="ctr"/>
          <a:lstStyle/>
          <a:p>
            <a:r>
              <a:rPr lang="en-US" sz="4800" dirty="0">
                <a:solidFill>
                  <a:srgbClr val="7C3AED"/>
                </a:solidFill>
                <a:latin typeface="Calibri" pitchFamily="34" charset="0"/>
                <a:ea typeface="Calibri" pitchFamily="34" charset="-122"/>
                <a:cs typeface="Calibri" pitchFamily="34" charset="-120"/>
              </a:rPr>
              <a:t> </a:t>
            </a:r>
            <a:r>
              <a:rPr lang="en-US" sz="4533" b="1" dirty="0">
                <a:solidFill>
                  <a:srgbClr val="FFFFFF"/>
                </a:solidFill>
                <a:latin typeface="Calibri" pitchFamily="34" charset="0"/>
                <a:ea typeface="Calibri" pitchFamily="34" charset="-122"/>
                <a:cs typeface="Calibri" pitchFamily="34" charset="-120"/>
              </a:rPr>
              <a:t>Pointers </a:t>
            </a:r>
            <a:r>
              <a:rPr lang="en-US" sz="2400" dirty="0">
                <a:solidFill>
                  <a:srgbClr val="7C3AED"/>
                </a:solidFill>
                <a:latin typeface="Calibri" pitchFamily="34" charset="0"/>
                <a:ea typeface="Calibri" pitchFamily="34" charset="-122"/>
                <a:cs typeface="Calibri" pitchFamily="34" charset="-120"/>
              </a:rPr>
              <a:t>💡</a:t>
            </a:r>
            <a:endParaRPr lang="en-US" sz="2400" dirty="0"/>
          </a:p>
        </p:txBody>
      </p:sp>
      <p:sp>
        <p:nvSpPr>
          <p:cNvPr id="4" name="Shape 2"/>
          <p:cNvSpPr/>
          <p:nvPr/>
        </p:nvSpPr>
        <p:spPr>
          <a:xfrm>
            <a:off x="499872" y="1082040"/>
            <a:ext cx="11277600" cy="1018032"/>
          </a:xfrm>
          <a:prstGeom prst="rect">
            <a:avLst/>
          </a:prstGeom>
          <a:solidFill>
            <a:srgbClr val="1A1B28"/>
          </a:solidFill>
          <a:ln w="3810">
            <a:solidFill>
              <a:srgbClr val="FFFFFF">
                <a:alpha val="10000"/>
              </a:srgbClr>
            </a:solidFill>
            <a:prstDash val="solid"/>
          </a:ln>
        </p:spPr>
        <p:txBody>
          <a:bodyPr/>
          <a:lstStyle/>
          <a:p>
            <a:endParaRPr lang="en-US" sz="2400"/>
          </a:p>
        </p:txBody>
      </p:sp>
      <p:sp>
        <p:nvSpPr>
          <p:cNvPr id="5" name="Text 3"/>
          <p:cNvSpPr/>
          <p:nvPr/>
        </p:nvSpPr>
        <p:spPr>
          <a:xfrm>
            <a:off x="780288" y="1082040"/>
            <a:ext cx="10789920" cy="1121664"/>
          </a:xfrm>
          <a:prstGeom prst="rect">
            <a:avLst/>
          </a:prstGeom>
          <a:noFill/>
          <a:ln/>
        </p:spPr>
        <p:txBody>
          <a:bodyPr wrap="square" lIns="0" tIns="0" rIns="0" bIns="0" rtlCol="0" anchor="ctr"/>
          <a:lstStyle/>
          <a:p>
            <a:r>
              <a:rPr lang="en-US" sz="1733" dirty="0">
                <a:solidFill>
                  <a:srgbClr val="D0D8E8"/>
                </a:solidFill>
                <a:latin typeface="Calibri Light" pitchFamily="34" charset="0"/>
                <a:ea typeface="Calibri Light" pitchFamily="34" charset="-122"/>
                <a:cs typeface="Calibri Light" pitchFamily="34" charset="-120"/>
              </a:rPr>
              <a:t>Pointers store memory addresses. Our engine uses both raw pointers (for non-owning references) and smart pointers (unique_ptr) for automatic memory management.</a:t>
            </a:r>
            <a:endParaRPr lang="en-US" sz="1733" dirty="0"/>
          </a:p>
        </p:txBody>
      </p:sp>
      <p:sp>
        <p:nvSpPr>
          <p:cNvPr id="6" name="Shape 4"/>
          <p:cNvSpPr/>
          <p:nvPr/>
        </p:nvSpPr>
        <p:spPr>
          <a:xfrm>
            <a:off x="487680" y="2203704"/>
            <a:ext cx="5522976" cy="2918460"/>
          </a:xfrm>
          <a:prstGeom prst="rect">
            <a:avLst/>
          </a:prstGeom>
          <a:solidFill>
            <a:srgbClr val="1A1B28"/>
          </a:solidFill>
          <a:ln w="3810">
            <a:solidFill>
              <a:srgbClr val="FFFFFF">
                <a:alpha val="10000"/>
              </a:srgbClr>
            </a:solidFill>
            <a:prstDash val="solid"/>
          </a:ln>
        </p:spPr>
        <p:txBody>
          <a:bodyPr/>
          <a:lstStyle/>
          <a:p>
            <a:endParaRPr lang="en-US" sz="2400" dirty="0"/>
          </a:p>
        </p:txBody>
      </p:sp>
      <p:sp>
        <p:nvSpPr>
          <p:cNvPr id="7" name="Shape 5"/>
          <p:cNvSpPr/>
          <p:nvPr/>
        </p:nvSpPr>
        <p:spPr>
          <a:xfrm>
            <a:off x="487680" y="2203704"/>
            <a:ext cx="5522976" cy="487680"/>
          </a:xfrm>
          <a:prstGeom prst="rect">
            <a:avLst/>
          </a:prstGeom>
          <a:solidFill>
            <a:srgbClr val="7C3AED">
              <a:alpha val="25000"/>
            </a:srgbClr>
          </a:solidFill>
          <a:ln w="12700">
            <a:solidFill>
              <a:srgbClr val="7C3AED"/>
            </a:solidFill>
            <a:prstDash val="solid"/>
          </a:ln>
        </p:spPr>
        <p:txBody>
          <a:bodyPr/>
          <a:lstStyle/>
          <a:p>
            <a:endParaRPr lang="en-US"/>
          </a:p>
        </p:txBody>
      </p:sp>
      <p:sp>
        <p:nvSpPr>
          <p:cNvPr id="8" name="Text 6"/>
          <p:cNvSpPr/>
          <p:nvPr/>
        </p:nvSpPr>
        <p:spPr>
          <a:xfrm>
            <a:off x="670560" y="2228088"/>
            <a:ext cx="5120640" cy="438912"/>
          </a:xfrm>
          <a:prstGeom prst="rect">
            <a:avLst/>
          </a:prstGeom>
          <a:noFill/>
          <a:ln/>
        </p:spPr>
        <p:txBody>
          <a:bodyPr wrap="square" lIns="0" tIns="0" rIns="0" bIns="0" rtlCol="0" anchor="ctr"/>
          <a:lstStyle/>
          <a:p>
            <a:r>
              <a:rPr lang="en-US" b="1" dirty="0">
                <a:solidFill>
                  <a:srgbClr val="7C3AED"/>
                </a:solidFill>
                <a:latin typeface="Consolas" pitchFamily="34" charset="0"/>
              </a:rPr>
              <a:t>Raw Pointers  (Entity*)</a:t>
            </a:r>
          </a:p>
        </p:txBody>
      </p:sp>
      <p:sp>
        <p:nvSpPr>
          <p:cNvPr id="9" name="Shape 7"/>
          <p:cNvSpPr/>
          <p:nvPr/>
        </p:nvSpPr>
        <p:spPr>
          <a:xfrm>
            <a:off x="585216" y="2822830"/>
            <a:ext cx="60960" cy="341376"/>
          </a:xfrm>
          <a:prstGeom prst="rect">
            <a:avLst/>
          </a:prstGeom>
          <a:solidFill>
            <a:srgbClr val="AA81CA"/>
          </a:solidFill>
          <a:ln w="12700">
            <a:noFill/>
            <a:prstDash val="solid"/>
          </a:ln>
        </p:spPr>
        <p:txBody>
          <a:bodyPr/>
          <a:lstStyle/>
          <a:p>
            <a:endParaRPr lang="en-US" sz="2400"/>
          </a:p>
        </p:txBody>
      </p:sp>
      <p:sp>
        <p:nvSpPr>
          <p:cNvPr id="10" name="Text 8"/>
          <p:cNvSpPr/>
          <p:nvPr/>
        </p:nvSpPr>
        <p:spPr>
          <a:xfrm>
            <a:off x="829056" y="28498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Engine* instance  →  Singleton self-reference</a:t>
            </a:r>
            <a:endParaRPr lang="en-US" sz="1467" dirty="0"/>
          </a:p>
        </p:txBody>
      </p:sp>
      <p:sp>
        <p:nvSpPr>
          <p:cNvPr id="11" name="Shape 9"/>
          <p:cNvSpPr/>
          <p:nvPr/>
        </p:nvSpPr>
        <p:spPr>
          <a:xfrm>
            <a:off x="585216" y="3432430"/>
            <a:ext cx="60960" cy="341376"/>
          </a:xfrm>
          <a:prstGeom prst="rect">
            <a:avLst/>
          </a:prstGeom>
          <a:solidFill>
            <a:srgbClr val="AA81CA"/>
          </a:solidFill>
          <a:ln w="12700">
            <a:noFill/>
            <a:prstDash val="solid"/>
          </a:ln>
        </p:spPr>
        <p:txBody>
          <a:bodyPr/>
          <a:lstStyle/>
          <a:p>
            <a:endParaRPr lang="en-US" sz="2400"/>
          </a:p>
        </p:txBody>
      </p:sp>
      <p:sp>
        <p:nvSpPr>
          <p:cNvPr id="12" name="Text 10"/>
          <p:cNvSpPr/>
          <p:nvPr/>
        </p:nvSpPr>
        <p:spPr>
          <a:xfrm>
            <a:off x="829056" y="34594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Entity* getEntityById()  →  non-owning lookup</a:t>
            </a:r>
            <a:endParaRPr lang="en-US" sz="1467" dirty="0"/>
          </a:p>
        </p:txBody>
      </p:sp>
      <p:sp>
        <p:nvSpPr>
          <p:cNvPr id="13" name="Shape 11"/>
          <p:cNvSpPr/>
          <p:nvPr/>
        </p:nvSpPr>
        <p:spPr>
          <a:xfrm>
            <a:off x="585216" y="4042030"/>
            <a:ext cx="60960" cy="341376"/>
          </a:xfrm>
          <a:prstGeom prst="rect">
            <a:avLst/>
          </a:prstGeom>
          <a:solidFill>
            <a:srgbClr val="AA81CA"/>
          </a:solidFill>
          <a:ln w="12700">
            <a:noFill/>
            <a:prstDash val="solid"/>
          </a:ln>
        </p:spPr>
        <p:txBody>
          <a:bodyPr/>
          <a:lstStyle/>
          <a:p>
            <a:endParaRPr lang="en-US" sz="2400"/>
          </a:p>
        </p:txBody>
      </p:sp>
      <p:sp>
        <p:nvSpPr>
          <p:cNvPr id="14" name="Text 12"/>
          <p:cNvSpPr/>
          <p:nvPr/>
        </p:nvSpPr>
        <p:spPr>
          <a:xfrm>
            <a:off x="829056" y="40690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PhysicsEngine* in GameWorld  →  injected dependency</a:t>
            </a:r>
            <a:endParaRPr lang="en-US" sz="1467" dirty="0"/>
          </a:p>
        </p:txBody>
      </p:sp>
      <p:sp>
        <p:nvSpPr>
          <p:cNvPr id="15" name="Shape 13"/>
          <p:cNvSpPr/>
          <p:nvPr/>
        </p:nvSpPr>
        <p:spPr>
          <a:xfrm>
            <a:off x="585216" y="4651630"/>
            <a:ext cx="60960" cy="341376"/>
          </a:xfrm>
          <a:prstGeom prst="rect">
            <a:avLst/>
          </a:prstGeom>
          <a:solidFill>
            <a:srgbClr val="AA81CA"/>
          </a:solidFill>
          <a:ln w="12700">
            <a:noFill/>
            <a:prstDash val="solid"/>
          </a:ln>
        </p:spPr>
        <p:txBody>
          <a:bodyPr/>
          <a:lstStyle/>
          <a:p>
            <a:endParaRPr lang="en-US" sz="2400"/>
          </a:p>
        </p:txBody>
      </p:sp>
      <p:sp>
        <p:nvSpPr>
          <p:cNvPr id="16" name="Text 14"/>
          <p:cNvSpPr/>
          <p:nvPr/>
        </p:nvSpPr>
        <p:spPr>
          <a:xfrm>
            <a:off x="829056" y="46786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onCollision(Entity* other)  →  temporary reference</a:t>
            </a:r>
            <a:endParaRPr lang="en-US" sz="1467" dirty="0"/>
          </a:p>
        </p:txBody>
      </p:sp>
      <p:sp>
        <p:nvSpPr>
          <p:cNvPr id="17" name="Shape 15"/>
          <p:cNvSpPr/>
          <p:nvPr/>
        </p:nvSpPr>
        <p:spPr>
          <a:xfrm>
            <a:off x="6236208" y="2203704"/>
            <a:ext cx="5522976" cy="2918460"/>
          </a:xfrm>
          <a:prstGeom prst="rect">
            <a:avLst/>
          </a:prstGeom>
          <a:solidFill>
            <a:srgbClr val="1A1B28"/>
          </a:solidFill>
          <a:ln w="3810">
            <a:solidFill>
              <a:srgbClr val="FFFFFF">
                <a:alpha val="10000"/>
              </a:srgbClr>
            </a:solidFill>
            <a:prstDash val="solid"/>
          </a:ln>
        </p:spPr>
        <p:txBody>
          <a:bodyPr/>
          <a:lstStyle/>
          <a:p>
            <a:endParaRPr lang="en-US" sz="2400"/>
          </a:p>
        </p:txBody>
      </p:sp>
      <p:sp>
        <p:nvSpPr>
          <p:cNvPr id="18" name="Shape 16"/>
          <p:cNvSpPr/>
          <p:nvPr/>
        </p:nvSpPr>
        <p:spPr>
          <a:xfrm>
            <a:off x="6254496" y="2203704"/>
            <a:ext cx="5522976" cy="487680"/>
          </a:xfrm>
          <a:prstGeom prst="rect">
            <a:avLst/>
          </a:prstGeom>
          <a:solidFill>
            <a:srgbClr val="10B981">
              <a:alpha val="25000"/>
            </a:srgbClr>
          </a:solidFill>
          <a:ln w="12700">
            <a:solidFill>
              <a:srgbClr val="10B981"/>
            </a:solidFill>
            <a:prstDash val="solid"/>
          </a:ln>
        </p:spPr>
        <p:txBody>
          <a:bodyPr/>
          <a:lstStyle/>
          <a:p>
            <a:endParaRPr lang="en-US" sz="2400"/>
          </a:p>
        </p:txBody>
      </p:sp>
      <p:sp>
        <p:nvSpPr>
          <p:cNvPr id="19" name="Text 17"/>
          <p:cNvSpPr/>
          <p:nvPr/>
        </p:nvSpPr>
        <p:spPr>
          <a:xfrm>
            <a:off x="6437376" y="2228088"/>
            <a:ext cx="5120640" cy="438912"/>
          </a:xfrm>
          <a:prstGeom prst="rect">
            <a:avLst/>
          </a:prstGeom>
          <a:noFill/>
          <a:ln/>
        </p:spPr>
        <p:txBody>
          <a:bodyPr wrap="square" lIns="0" tIns="0" rIns="0" bIns="0" rtlCol="0" anchor="ctr"/>
          <a:lstStyle/>
          <a:p>
            <a:r>
              <a:rPr lang="en-US" sz="1667" b="1" dirty="0">
                <a:solidFill>
                  <a:srgbClr val="10B981"/>
                </a:solidFill>
                <a:latin typeface="Consolas" pitchFamily="34" charset="0"/>
                <a:ea typeface="Consolas" pitchFamily="34" charset="-122"/>
                <a:cs typeface="Consolas" pitchFamily="34" charset="-120"/>
              </a:rPr>
              <a:t>Smart Pointers  (unique_ptr&lt;Entity&gt;)</a:t>
            </a:r>
            <a:endParaRPr lang="en-US" sz="1667" dirty="0"/>
          </a:p>
        </p:txBody>
      </p:sp>
      <p:sp>
        <p:nvSpPr>
          <p:cNvPr id="20" name="Shape 18"/>
          <p:cNvSpPr/>
          <p:nvPr/>
        </p:nvSpPr>
        <p:spPr>
          <a:xfrm>
            <a:off x="6437376" y="2822830"/>
            <a:ext cx="60960" cy="341376"/>
          </a:xfrm>
          <a:prstGeom prst="rect">
            <a:avLst/>
          </a:prstGeom>
          <a:solidFill>
            <a:srgbClr val="10B981"/>
          </a:solidFill>
          <a:ln w="12700">
            <a:solidFill>
              <a:srgbClr val="10B981"/>
            </a:solidFill>
            <a:prstDash val="solid"/>
          </a:ln>
        </p:spPr>
        <p:txBody>
          <a:bodyPr/>
          <a:lstStyle/>
          <a:p>
            <a:endParaRPr lang="en-US" sz="2400"/>
          </a:p>
        </p:txBody>
      </p:sp>
      <p:sp>
        <p:nvSpPr>
          <p:cNvPr id="21" name="Text 19"/>
          <p:cNvSpPr/>
          <p:nvPr/>
        </p:nvSpPr>
        <p:spPr>
          <a:xfrm>
            <a:off x="6595872" y="28498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EntityManager stores vector&lt;unique_ptr&lt;Entity&gt;&gt;</a:t>
            </a:r>
            <a:endParaRPr lang="en-US" sz="1467" dirty="0"/>
          </a:p>
        </p:txBody>
      </p:sp>
      <p:sp>
        <p:nvSpPr>
          <p:cNvPr id="22" name="Shape 20"/>
          <p:cNvSpPr/>
          <p:nvPr/>
        </p:nvSpPr>
        <p:spPr>
          <a:xfrm>
            <a:off x="6437376" y="3432430"/>
            <a:ext cx="60960" cy="341376"/>
          </a:xfrm>
          <a:prstGeom prst="rect">
            <a:avLst/>
          </a:prstGeom>
          <a:solidFill>
            <a:srgbClr val="10B981"/>
          </a:solidFill>
          <a:ln w="12700">
            <a:solidFill>
              <a:srgbClr val="10B981"/>
            </a:solidFill>
            <a:prstDash val="solid"/>
          </a:ln>
        </p:spPr>
        <p:txBody>
          <a:bodyPr/>
          <a:lstStyle/>
          <a:p>
            <a:endParaRPr lang="en-US" sz="2400"/>
          </a:p>
        </p:txBody>
      </p:sp>
      <p:sp>
        <p:nvSpPr>
          <p:cNvPr id="23" name="Text 21"/>
          <p:cNvSpPr/>
          <p:nvPr/>
        </p:nvSpPr>
        <p:spPr>
          <a:xfrm>
            <a:off x="6595872" y="34594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EntityFactory::createEntity() returns unique_ptr</a:t>
            </a:r>
            <a:endParaRPr lang="en-US" sz="1467" dirty="0"/>
          </a:p>
        </p:txBody>
      </p:sp>
      <p:sp>
        <p:nvSpPr>
          <p:cNvPr id="24" name="Shape 22"/>
          <p:cNvSpPr/>
          <p:nvPr/>
        </p:nvSpPr>
        <p:spPr>
          <a:xfrm>
            <a:off x="6437376" y="4042030"/>
            <a:ext cx="60960" cy="341376"/>
          </a:xfrm>
          <a:prstGeom prst="rect">
            <a:avLst/>
          </a:prstGeom>
          <a:solidFill>
            <a:srgbClr val="10B981"/>
          </a:solidFill>
          <a:ln w="12700">
            <a:solidFill>
              <a:srgbClr val="10B981"/>
            </a:solidFill>
            <a:prstDash val="solid"/>
          </a:ln>
        </p:spPr>
        <p:txBody>
          <a:bodyPr/>
          <a:lstStyle/>
          <a:p>
            <a:endParaRPr lang="en-US" sz="2400"/>
          </a:p>
        </p:txBody>
      </p:sp>
      <p:sp>
        <p:nvSpPr>
          <p:cNvPr id="25" name="Text 23"/>
          <p:cNvSpPr/>
          <p:nvPr/>
        </p:nvSpPr>
        <p:spPr>
          <a:xfrm>
            <a:off x="6595872" y="40690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Auto-deleted when removed from the vector</a:t>
            </a:r>
            <a:endParaRPr lang="en-US" sz="1467" dirty="0"/>
          </a:p>
        </p:txBody>
      </p:sp>
      <p:sp>
        <p:nvSpPr>
          <p:cNvPr id="26" name="Shape 24"/>
          <p:cNvSpPr/>
          <p:nvPr/>
        </p:nvSpPr>
        <p:spPr>
          <a:xfrm>
            <a:off x="6437376" y="4651630"/>
            <a:ext cx="60960" cy="341376"/>
          </a:xfrm>
          <a:prstGeom prst="rect">
            <a:avLst/>
          </a:prstGeom>
          <a:solidFill>
            <a:srgbClr val="10B981"/>
          </a:solidFill>
          <a:ln w="12700">
            <a:solidFill>
              <a:srgbClr val="10B981"/>
            </a:solidFill>
            <a:prstDash val="solid"/>
          </a:ln>
        </p:spPr>
        <p:txBody>
          <a:bodyPr/>
          <a:lstStyle/>
          <a:p>
            <a:endParaRPr lang="en-US" sz="2400"/>
          </a:p>
        </p:txBody>
      </p:sp>
      <p:sp>
        <p:nvSpPr>
          <p:cNvPr id="27" name="Text 25"/>
          <p:cNvSpPr/>
          <p:nvPr/>
        </p:nvSpPr>
        <p:spPr>
          <a:xfrm>
            <a:off x="6595872" y="4678680"/>
            <a:ext cx="4998720" cy="548640"/>
          </a:xfrm>
          <a:prstGeom prst="rect">
            <a:avLst/>
          </a:prstGeom>
          <a:noFill/>
          <a:ln/>
        </p:spPr>
        <p:txBody>
          <a:bodyPr wrap="square" lIns="0" tIns="0" rIns="0" bIns="0" rtlCol="0" anchor="t"/>
          <a:lstStyle/>
          <a:p>
            <a:r>
              <a:rPr lang="en-US" sz="1467" dirty="0">
                <a:solidFill>
                  <a:srgbClr val="D0D8E8"/>
                </a:solidFill>
                <a:latin typeface="Calibri Light" pitchFamily="34" charset="0"/>
                <a:ea typeface="Calibri Light" pitchFamily="34" charset="-122"/>
                <a:cs typeface="Calibri Light" pitchFamily="34" charset="-120"/>
              </a:rPr>
              <a:t>Zero manual delete — no memory leaks</a:t>
            </a:r>
            <a:endParaRPr lang="en-US" sz="1467" dirty="0"/>
          </a:p>
        </p:txBody>
      </p:sp>
      <p:cxnSp>
        <p:nvCxnSpPr>
          <p:cNvPr id="31" name="Straight Connector 30">
            <a:extLst>
              <a:ext uri="{FF2B5EF4-FFF2-40B4-BE49-F238E27FC236}">
                <a16:creationId xmlns:a16="http://schemas.microsoft.com/office/drawing/2014/main" id="{71AE4DA2-03A2-DB5D-859F-E845B576E2AC}"/>
              </a:ext>
            </a:extLst>
          </p:cNvPr>
          <p:cNvCxnSpPr/>
          <p:nvPr/>
        </p:nvCxnSpPr>
        <p:spPr>
          <a:xfrm>
            <a:off x="266700" y="280797"/>
            <a:ext cx="0" cy="671703"/>
          </a:xfrm>
          <a:prstGeom prst="line">
            <a:avLst/>
          </a:prstGeom>
          <a:ln w="76200">
            <a:solidFill>
              <a:srgbClr val="10B981"/>
            </a:solidFill>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693CC429-0F38-5B28-EE66-C40ECB263F7D}"/>
              </a:ext>
            </a:extLst>
          </p:cNvPr>
          <p:cNvSpPr/>
          <p:nvPr/>
        </p:nvSpPr>
        <p:spPr>
          <a:xfrm>
            <a:off x="1199960" y="5864786"/>
            <a:ext cx="9877425" cy="824866"/>
          </a:xfrm>
          <a:prstGeom prst="rect">
            <a:avLst/>
          </a:prstGeom>
          <a:solidFill>
            <a:srgbClr val="1A1B28"/>
          </a:solidFill>
          <a:ln w="3810">
            <a:solidFill>
              <a:srgbClr val="FFFFFF">
                <a:alpha val="10000"/>
              </a:srgbClr>
            </a:solidFill>
            <a:prstDash val="solid"/>
          </a:ln>
        </p:spPr>
        <p:txBody>
          <a:bodyPr/>
          <a:lstStyle/>
          <a:p>
            <a:endParaRPr lang="en-US" sz="2400" dirty="0">
              <a:solidFill>
                <a:schemeClr val="tx1"/>
              </a:solidFill>
            </a:endParaRPr>
          </a:p>
        </p:txBody>
      </p:sp>
      <p:sp>
        <p:nvSpPr>
          <p:cNvPr id="35" name="Rectangle 2">
            <a:extLst>
              <a:ext uri="{FF2B5EF4-FFF2-40B4-BE49-F238E27FC236}">
                <a16:creationId xmlns:a16="http://schemas.microsoft.com/office/drawing/2014/main" id="{C8013999-FF24-413D-4C1A-66F2FAB865F8}"/>
              </a:ext>
            </a:extLst>
          </p:cNvPr>
          <p:cNvSpPr>
            <a:spLocks noChangeArrowheads="1"/>
          </p:cNvSpPr>
          <p:nvPr/>
        </p:nvSpPr>
        <p:spPr bwMode="auto">
          <a:xfrm>
            <a:off x="1376172" y="5941212"/>
            <a:ext cx="9525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en-US" sz="1733" dirty="0">
                <a:solidFill>
                  <a:srgbClr val="D0D8E8"/>
                </a:solidFill>
                <a:latin typeface="Calibri Light" pitchFamily="34" charset="0"/>
                <a:ea typeface="Calibri Light" pitchFamily="34" charset="-122"/>
                <a:cs typeface="Calibri Light" pitchFamily="34" charset="-120"/>
              </a:rPr>
              <a:t>Since we used virtual functions with overriding across all derived classes, </a:t>
            </a:r>
          </a:p>
          <a:p>
            <a:pPr marR="0" lvl="0" indent="0" fontAlgn="base">
              <a:lnSpc>
                <a:spcPct val="100000"/>
              </a:lnSpc>
              <a:spcBef>
                <a:spcPct val="0"/>
              </a:spcBef>
              <a:spcAft>
                <a:spcPct val="0"/>
              </a:spcAft>
              <a:buClrTx/>
              <a:buSzTx/>
              <a:buFontTx/>
              <a:buNone/>
              <a:tabLst/>
            </a:pPr>
            <a:r>
              <a:rPr lang="en-US" altLang="en-US" sz="1733" dirty="0">
                <a:solidFill>
                  <a:srgbClr val="D0D8E8"/>
                </a:solidFill>
                <a:latin typeface="Calibri Light" pitchFamily="34" charset="0"/>
                <a:ea typeface="Calibri Light" pitchFamily="34" charset="-122"/>
                <a:cs typeface="Calibri Light" pitchFamily="34" charset="-120"/>
              </a:rPr>
              <a:t>and accessed them through an Entity* base pointer, we achieved Runtime Polymorphism in our engine. </a:t>
            </a:r>
          </a:p>
        </p:txBody>
      </p:sp>
      <p:sp>
        <p:nvSpPr>
          <p:cNvPr id="37" name="TextBox 36">
            <a:extLst>
              <a:ext uri="{FF2B5EF4-FFF2-40B4-BE49-F238E27FC236}">
                <a16:creationId xmlns:a16="http://schemas.microsoft.com/office/drawing/2014/main" id="{0978F355-B889-5AAF-56C8-F2796ECF5F36}"/>
              </a:ext>
            </a:extLst>
          </p:cNvPr>
          <p:cNvSpPr txBox="1"/>
          <p:nvPr/>
        </p:nvSpPr>
        <p:spPr>
          <a:xfrm>
            <a:off x="3154203" y="5270807"/>
            <a:ext cx="5197793" cy="461665"/>
          </a:xfrm>
          <a:prstGeom prst="rect">
            <a:avLst/>
          </a:prstGeom>
          <a:noFill/>
        </p:spPr>
        <p:txBody>
          <a:bodyPr wrap="square">
            <a:spAutoFit/>
          </a:bodyPr>
          <a:lstStyle/>
          <a:p>
            <a:r>
              <a:rPr lang="en-US" sz="2400" b="1" dirty="0">
                <a:solidFill>
                  <a:srgbClr val="00B0F0"/>
                </a:solidFill>
                <a:latin typeface="Lucida Console" panose="020B0609040504020204" pitchFamily="49" charset="0"/>
              </a:rPr>
              <a:t>Polymorphism </a:t>
            </a:r>
            <a:r>
              <a:rPr lang="en-US" sz="2400" b="1" dirty="0">
                <a:latin typeface="Lucida Console" panose="020B0609040504020204" pitchFamily="49" charset="0"/>
              </a:rPr>
              <a:t>in Our Engine</a:t>
            </a:r>
            <a:endParaRPr lang="ar-EG" sz="2400" b="1" dirty="0">
              <a:solidFill>
                <a:srgbClr val="00B0F0"/>
              </a:solidFill>
              <a:latin typeface="Lucida Console" panose="020B06090405040202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D7089EE-06A8-1189-C3F7-6F55BA29F1D7}"/>
              </a:ext>
            </a:extLst>
          </p:cNvPr>
          <p:cNvSpPr txBox="1"/>
          <p:nvPr/>
        </p:nvSpPr>
        <p:spPr>
          <a:xfrm>
            <a:off x="4957762" y="2576810"/>
            <a:ext cx="2276475" cy="923330"/>
          </a:xfrm>
          <a:prstGeom prst="rect">
            <a:avLst/>
          </a:prstGeom>
          <a:noFill/>
        </p:spPr>
        <p:txBody>
          <a:bodyPr wrap="square">
            <a:spAutoFit/>
          </a:bodyPr>
          <a:lstStyle>
            <a:defPPr>
              <a:defRPr lang="en-US"/>
            </a:defPPr>
            <a:lvl1pPr>
              <a:defRPr sz="4800">
                <a:latin typeface="Arial Black" panose="020B0A04020102020204" pitchFamily="34" charset="0"/>
              </a:defRPr>
            </a:lvl1pPr>
          </a:lstStyle>
          <a:p>
            <a:r>
              <a:rPr lang="en-US" sz="5400" dirty="0"/>
              <a:t>ANY</a:t>
            </a:r>
          </a:p>
        </p:txBody>
      </p:sp>
      <p:sp>
        <p:nvSpPr>
          <p:cNvPr id="10" name="TextBox 9">
            <a:extLst>
              <a:ext uri="{FF2B5EF4-FFF2-40B4-BE49-F238E27FC236}">
                <a16:creationId xmlns:a16="http://schemas.microsoft.com/office/drawing/2014/main" id="{12A344AE-33CB-06DF-A938-60C5EBB6681E}"/>
              </a:ext>
            </a:extLst>
          </p:cNvPr>
          <p:cNvSpPr txBox="1"/>
          <p:nvPr/>
        </p:nvSpPr>
        <p:spPr>
          <a:xfrm>
            <a:off x="3957638" y="4063484"/>
            <a:ext cx="4067175" cy="369332"/>
          </a:xfrm>
          <a:prstGeom prst="rect">
            <a:avLst/>
          </a:prstGeom>
          <a:noFill/>
        </p:spPr>
        <p:txBody>
          <a:bodyPr wrap="square">
            <a:spAutoFit/>
          </a:bodyPr>
          <a:lstStyle/>
          <a:p>
            <a:r>
              <a:rPr lang="en-US" dirty="0">
                <a:solidFill>
                  <a:schemeClr val="bg1">
                    <a:lumMod val="50000"/>
                    <a:lumOff val="50000"/>
                  </a:schemeClr>
                </a:solidFill>
                <a:latin typeface="Courier New" panose="02070309020205020404" pitchFamily="49" charset="0"/>
                <a:cs typeface="Courier New" panose="02070309020205020404" pitchFamily="49" charset="0"/>
              </a:rPr>
              <a:t>Thank you for your attention</a:t>
            </a:r>
          </a:p>
        </p:txBody>
      </p:sp>
      <p:sp>
        <p:nvSpPr>
          <p:cNvPr id="11" name="TextBox 10">
            <a:extLst>
              <a:ext uri="{FF2B5EF4-FFF2-40B4-BE49-F238E27FC236}">
                <a16:creationId xmlns:a16="http://schemas.microsoft.com/office/drawing/2014/main" id="{0370BDFD-FFEF-B377-6BE4-19086682ECE9}"/>
              </a:ext>
            </a:extLst>
          </p:cNvPr>
          <p:cNvSpPr txBox="1"/>
          <p:nvPr/>
        </p:nvSpPr>
        <p:spPr>
          <a:xfrm>
            <a:off x="3090863" y="3196709"/>
            <a:ext cx="5762625" cy="1015663"/>
          </a:xfrm>
          <a:prstGeom prst="rect">
            <a:avLst/>
          </a:prstGeom>
          <a:noFill/>
        </p:spPr>
        <p:txBody>
          <a:bodyPr wrap="square" rtlCol="0">
            <a:spAutoFit/>
          </a:bodyPr>
          <a:lstStyle>
            <a:defPPr>
              <a:defRPr lang="en-US"/>
            </a:defPPr>
            <a:lvl1pPr>
              <a:defRPr sz="6000">
                <a:solidFill>
                  <a:schemeClr val="tx2">
                    <a:lumMod val="90000"/>
                  </a:schemeClr>
                </a:solidFill>
                <a:latin typeface="Arial Black" panose="020B0A04020102020204" pitchFamily="34" charset="0"/>
              </a:defRPr>
            </a:lvl1pPr>
          </a:lstStyle>
          <a:p>
            <a:r>
              <a:rPr lang="en-US" dirty="0">
                <a:solidFill>
                  <a:schemeClr val="bg2">
                    <a:lumMod val="50000"/>
                    <a:lumOff val="50000"/>
                  </a:schemeClr>
                </a:solidFill>
              </a:rPr>
              <a:t>QUESTIONS?</a:t>
            </a:r>
          </a:p>
        </p:txBody>
      </p:sp>
    </p:spTree>
    <p:extLst>
      <p:ext uri="{BB962C8B-B14F-4D97-AF65-F5344CB8AC3E}">
        <p14:creationId xmlns:p14="http://schemas.microsoft.com/office/powerpoint/2010/main" val="15788191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1597</TotalTime>
  <Words>1120</Words>
  <Application>Microsoft Office PowerPoint</Application>
  <PresentationFormat>Widescreen</PresentationFormat>
  <Paragraphs>165</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Display</vt:lpstr>
      <vt:lpstr>Arial</vt:lpstr>
      <vt:lpstr>Arial Black</vt:lpstr>
      <vt:lpstr>Arial Unicode MS</vt:lpstr>
      <vt:lpstr>Calibri</vt:lpstr>
      <vt:lpstr>Calibri Light</vt:lpstr>
      <vt:lpstr>Consolas</vt:lpstr>
      <vt:lpstr>Courier New</vt:lpstr>
      <vt:lpstr>Lucida Console</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emam 0</dc:creator>
  <cp:lastModifiedBy>eman mo</cp:lastModifiedBy>
  <cp:revision>66</cp:revision>
  <dcterms:created xsi:type="dcterms:W3CDTF">2026-03-21T07:17:00Z</dcterms:created>
  <dcterms:modified xsi:type="dcterms:W3CDTF">2026-05-03T07:45:54Z</dcterms:modified>
</cp:coreProperties>
</file>